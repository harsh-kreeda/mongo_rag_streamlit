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9" r:id="rId2"/>
    <p:sldId id="467" r:id="rId3"/>
    <p:sldId id="474" r:id="rId4"/>
    <p:sldId id="468" r:id="rId5"/>
    <p:sldId id="469" r:id="rId6"/>
    <p:sldId id="470" r:id="rId7"/>
    <p:sldId id="471" r:id="rId8"/>
    <p:sldId id="472" r:id="rId9"/>
    <p:sldId id="473" r:id="rId10"/>
    <p:sldId id="475" r:id="rId11"/>
    <p:sldId id="490" r:id="rId12"/>
    <p:sldId id="477" r:id="rId13"/>
    <p:sldId id="478" r:id="rId14"/>
    <p:sldId id="479" r:id="rId15"/>
    <p:sldId id="482" r:id="rId16"/>
    <p:sldId id="481" r:id="rId17"/>
    <p:sldId id="483" r:id="rId18"/>
    <p:sldId id="484" r:id="rId19"/>
    <p:sldId id="485" r:id="rId20"/>
    <p:sldId id="486" r:id="rId21"/>
    <p:sldId id="487" r:id="rId22"/>
    <p:sldId id="488" r:id="rId23"/>
    <p:sldId id="48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55536-10F8-446C-A86C-911F522CF89B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6D343-F3DC-4024-BF63-0BF31EAEA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1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3663D0-D604-46D0-B5FD-662BE0397D7E}" type="slidenum">
              <a:rPr lang="en-US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5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656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3663D0-D604-46D0-B5FD-662BE0397D7E}" type="slidenum">
              <a:rPr lang="en-US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5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259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88664-99D6-AFA1-B818-86204DE4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EF5F580-09E0-0522-8F49-B5B38FF397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3663D0-D604-46D0-B5FD-662BE0397D7E}" type="slidenum">
              <a:rPr lang="en-US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59138" name="Rectangle 2">
            <a:extLst>
              <a:ext uri="{FF2B5EF4-FFF2-40B4-BE49-F238E27FC236}">
                <a16:creationId xmlns:a16="http://schemas.microsoft.com/office/drawing/2014/main" id="{F2AD0202-A507-7A4F-745A-AE91EC3006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859139" name="Rectangle 3">
            <a:extLst>
              <a:ext uri="{FF2B5EF4-FFF2-40B4-BE49-F238E27FC236}">
                <a16:creationId xmlns:a16="http://schemas.microsoft.com/office/drawing/2014/main" id="{9512A1CE-CA5D-8CE3-A701-0EE636F26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76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ACE7-CC7A-2E43-4A4D-8DA4431A6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F1EDF-CA44-D262-BA53-0A0AB339E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474CD-9E0A-8264-72FB-C848A6C0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4F92B-8066-79F9-96AB-2605E813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D2F19-3B5B-7E6A-3561-5A259856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44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A3AA-DE9B-6EF1-EBEA-62C3716C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CE828-56E3-B9E9-4A63-0A5DB21D9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F2279-C03E-0BE6-0DB9-59C6D716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C50A9-3172-4FE3-00BE-EEA4C0F8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58F0D-E7E1-0670-0C5E-6E693896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95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D9168-E0D7-10F4-A98F-0D4373CA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4B11F-B400-FF45-7772-714E59E00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B931F-8AAF-2D9A-D884-2BAA1E04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3FC13-33CC-0150-28B6-0AF7F52F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1FF4F-39C1-8420-50E6-A3FBAEAAE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44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CBC6-D4CB-EE9F-FC7B-0C869F67D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B91D1-BCAA-686F-8A62-F460BA2AD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08B22-F175-4DDE-CD87-0F45225B8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A95F4-EDF3-2950-B2F0-D3C6CD69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9DD72-53AC-A6C6-D0C8-EE060DEA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DC9BE-AF48-EF7C-BA99-D256052C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41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4816-7587-8E24-A9C4-82AF0399E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BB603-C7D9-766F-09DF-0BA2B7A48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DA42D-A7C9-4577-62B8-71AB3653D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061E0-D344-A074-E5BC-28CCADD25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DAE14B-07B2-7EB8-6CA8-D5DDBBDFB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215A4-D900-29F5-1C23-046BBEEC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A36DBB-E4CF-E5CC-E527-FEDD8113B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99CDD-3842-5EB2-C7EE-D16CE1FF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12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B5EE-DED5-E8C5-139A-6189E123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DE400-5CD4-5C93-1042-6EA30C89F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BC80A-76EA-C557-AD7F-9EF0E40E8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7471C0-0E22-DE01-7A4A-624B007F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09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860AA-C15F-6469-355F-F38A0843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8BDB66-1F08-FE10-67B8-BA2234A1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1B9F4-EA52-3E9A-CBC3-A08EC0B9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8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73F1-CB34-7EEF-FDD0-0676A458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856AF-0511-F0FA-981D-1745DBDEA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44591-90D4-F103-23C5-72C1E6339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98B97-046F-5820-AA3E-CE17ABCF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E7702-887B-AB9F-BADF-70D0EAB3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EDD73-AD4E-75A7-5A4F-4CBC8D3B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24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6A67B-D11B-95AC-3635-51FA32EB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C3C44-2C7C-4126-794C-D57608AE9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6348E-90C4-C93E-43DF-DCE31764D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50050-3E3C-06C0-3E05-F4086C12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0572E-0068-53D6-4D05-6CD15199B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51C4-B060-2CF5-17CE-B159E8B2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19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18AB-3388-B87D-F6DA-DD30EFCD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B7017-E9D9-C946-72A7-60620324D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85123-717D-2BEB-0164-6D33A30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F351-D03E-C0F6-147D-DBC88C0A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AC014-7227-73A3-A7B3-1BFFC724C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14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95860-4339-19EE-EB0F-5FA53A975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B5261-0C9C-D66B-1F67-FEB9A7D9F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23661-0968-7687-7036-A0695065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D56EC-65B3-A75A-F279-5E488A4F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85822-B503-E5EF-0B40-4DDEB6D3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376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, Sub-header &amp; body copy WHIT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378883" y="139824"/>
            <a:ext cx="11228799" cy="1143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 rtl="0">
              <a:spcBef>
                <a:spcPts val="0"/>
              </a:spcBef>
              <a:buClr>
                <a:srgbClr val="CE0B10"/>
              </a:buClr>
              <a:buSzPct val="100000"/>
              <a:buFont typeface="Tahoma"/>
              <a:buNone/>
              <a:defRPr sz="4533" b="0" i="0">
                <a:gradFill>
                  <a:gsLst>
                    <a:gs pos="70000">
                      <a:srgbClr val="A72879"/>
                    </a:gs>
                    <a:gs pos="26000">
                      <a:srgbClr val="E3000F"/>
                    </a:gs>
                    <a:gs pos="0">
                      <a:srgbClr val="F08300"/>
                    </a:gs>
                    <a:gs pos="100000">
                      <a:srgbClr val="064497"/>
                    </a:gs>
                  </a:gsLst>
                  <a:lin ang="0" scaled="0"/>
                </a:gra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90"/>
          <p:cNvSpPr txBox="1">
            <a:spLocks noGrp="1"/>
          </p:cNvSpPr>
          <p:nvPr>
            <p:ph type="body" idx="3"/>
          </p:nvPr>
        </p:nvSpPr>
        <p:spPr>
          <a:xfrm>
            <a:off x="379200" y="1708801"/>
            <a:ext cx="11277600" cy="4042833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bg1">
                    <a:lumMod val="50000"/>
                  </a:schemeClr>
                </a:solidFill>
                <a:latin typeface="Sky Text" charset="0"/>
                <a:ea typeface="Sky Text" charset="0"/>
                <a:cs typeface="Sky Text" charset="0"/>
              </a:defRPr>
            </a:lvl1pPr>
          </a:lstStyle>
          <a:p>
            <a:endParaRPr lang="en-US" dirty="0"/>
          </a:p>
        </p:txBody>
      </p:sp>
      <p:sp>
        <p:nvSpPr>
          <p:cNvPr id="17" name="Shape 61"/>
          <p:cNvSpPr txBox="1">
            <a:spLocks noGrp="1"/>
          </p:cNvSpPr>
          <p:nvPr>
            <p:ph type="body" idx="2"/>
          </p:nvPr>
        </p:nvSpPr>
        <p:spPr>
          <a:xfrm>
            <a:off x="379200" y="1171201"/>
            <a:ext cx="8902000" cy="69239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rtl="0">
              <a:lnSpc>
                <a:spcPct val="125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1867" b="0" i="0">
                <a:solidFill>
                  <a:srgbClr val="000000"/>
                </a:solidFill>
                <a:latin typeface="Sky Text" charset="0"/>
                <a:ea typeface="Sky Text" charset="0"/>
                <a:cs typeface="Sky Text" charset="0"/>
                <a:sym typeface="Tahoma"/>
              </a:defRPr>
            </a:lvl1pPr>
            <a:lvl2pPr marL="609585" lvl="1" indent="0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667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219170" lvl="2" indent="0" rtl="0">
              <a:lnSpc>
                <a:spcPct val="114285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667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754" lvl="3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667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438339" lvl="4" indent="0" rtl="0">
              <a:lnSpc>
                <a:spcPct val="133333"/>
              </a:lnSpc>
              <a:spcBef>
                <a:spcPts val="0"/>
              </a:spcBef>
              <a:buClr>
                <a:srgbClr val="FFFFFF"/>
              </a:buClr>
              <a:buSzPct val="100000"/>
              <a:buNone/>
              <a:defRPr sz="2667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667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667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667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buSzPct val="100000"/>
              <a:buFont typeface="Tahoma"/>
              <a:defRPr sz="2667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sp>
        <p:nvSpPr>
          <p:cNvPr id="20" name="Shape 45"/>
          <p:cNvSpPr txBox="1">
            <a:spLocks noGrp="1"/>
          </p:cNvSpPr>
          <p:nvPr>
            <p:ph type="sldNum" idx="10"/>
          </p:nvPr>
        </p:nvSpPr>
        <p:spPr>
          <a:xfrm>
            <a:off x="378883" y="6356351"/>
            <a:ext cx="2844800" cy="366183"/>
          </a:xfrm>
        </p:spPr>
        <p:txBody>
          <a:bodyPr/>
          <a:lstStyle>
            <a:lvl1pPr algn="l">
              <a:defRPr sz="1333" b="0" i="0" smtClean="0">
                <a:solidFill>
                  <a:schemeClr val="tx1"/>
                </a:solidFill>
                <a:latin typeface="Sky Text" charset="0"/>
                <a:ea typeface="Sky Text" charset="0"/>
                <a:cs typeface="Sky Text" charset="0"/>
              </a:defRPr>
            </a:lvl1pPr>
            <a:lvl2pPr lvl="1">
              <a:defRPr smtClean="0"/>
            </a:lvl2pPr>
            <a:lvl3pPr lvl="2">
              <a:defRPr smtClean="0"/>
            </a:lvl3pPr>
            <a:lvl4pPr lvl="3">
              <a:defRPr smtClean="0"/>
            </a:lvl4pPr>
            <a:lvl5pPr lvl="4">
              <a:defRPr smtClean="0"/>
            </a:lvl5pPr>
          </a:lstStyle>
          <a:p>
            <a:pPr>
              <a:defRPr/>
            </a:pPr>
            <a:fld id="{D3876D21-DC87-3F42-9AF0-FE122F18496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416356-CE5E-43E0-B5AD-E01116253F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1201" y="6290616"/>
            <a:ext cx="2481268" cy="29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06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BA70C-74FA-53D1-7A09-B1E18709C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CC0B9-AFF2-20E2-0A5E-CC379F85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55D97-1284-5C0E-6B48-39DDD713F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3744D-D8D3-4F70-AA0F-251A0B695658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AB008-70EA-F468-0A9D-EB7A95B87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EE6F0-FF87-93C8-350F-E06BB8B1F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227EC-083E-4180-8DFD-1FF9FB39E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83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-25948"/>
            <a:ext cx="12191144" cy="6894581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5A3695"/>
          </a:solidFill>
        </p:spPr>
        <p:txBody>
          <a:bodyPr wrap="square" lIns="0" tIns="0" rIns="0" bIns="0" rtlCol="0"/>
          <a:lstStyle/>
          <a:p>
            <a:endParaRPr sz="1092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75841" y="4156199"/>
            <a:ext cx="9186647" cy="1558581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Sky Text" charset="0"/>
              </a:rPr>
              <a:t>Navigation Deck for Performance Goal Setting Process in Goal Center</a:t>
            </a:r>
            <a:br>
              <a:rPr lang="en-US" sz="2800" b="1" dirty="0">
                <a:solidFill>
                  <a:schemeClr val="bg1"/>
                </a:solidFill>
                <a:latin typeface="Sky Text" charset="0"/>
              </a:rPr>
            </a:br>
            <a:br>
              <a:rPr lang="en-US" sz="2800" b="1" dirty="0">
                <a:solidFill>
                  <a:schemeClr val="bg1"/>
                </a:solidFill>
                <a:latin typeface="Sky Text" charset="0"/>
              </a:rPr>
            </a:br>
            <a:endParaRPr lang="en-US" sz="2800" b="1" dirty="0">
              <a:solidFill>
                <a:schemeClr val="bg1"/>
              </a:solidFill>
              <a:latin typeface="Sky Tex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8516" y="1996571"/>
            <a:ext cx="5091324" cy="1267248"/>
          </a:xfrm>
          <a:custGeom>
            <a:avLst/>
            <a:gdLst/>
            <a:ahLst/>
            <a:cxnLst/>
            <a:rect l="l" t="t" r="r" b="b"/>
            <a:pathLst>
              <a:path w="8395970" h="2089784">
                <a:moveTo>
                  <a:pt x="2014461" y="0"/>
                </a:moveTo>
                <a:lnTo>
                  <a:pt x="0" y="0"/>
                </a:lnTo>
                <a:lnTo>
                  <a:pt x="0" y="604520"/>
                </a:lnTo>
                <a:lnTo>
                  <a:pt x="597839" y="604520"/>
                </a:lnTo>
                <a:lnTo>
                  <a:pt x="597839" y="2089150"/>
                </a:lnTo>
                <a:lnTo>
                  <a:pt x="1429600" y="2089150"/>
                </a:lnTo>
                <a:lnTo>
                  <a:pt x="1429600" y="604520"/>
                </a:lnTo>
                <a:lnTo>
                  <a:pt x="2014461" y="604520"/>
                </a:lnTo>
                <a:lnTo>
                  <a:pt x="2014461" y="0"/>
                </a:lnTo>
                <a:close/>
              </a:path>
              <a:path w="8395970" h="2089784">
                <a:moveTo>
                  <a:pt x="4288917" y="2089238"/>
                </a:moveTo>
                <a:lnTo>
                  <a:pt x="3489629" y="0"/>
                </a:lnTo>
                <a:lnTo>
                  <a:pt x="2612326" y="0"/>
                </a:lnTo>
                <a:lnTo>
                  <a:pt x="1832559" y="2089238"/>
                </a:lnTo>
                <a:lnTo>
                  <a:pt x="2612326" y="2089238"/>
                </a:lnTo>
                <a:lnTo>
                  <a:pt x="3044482" y="844765"/>
                </a:lnTo>
                <a:lnTo>
                  <a:pt x="3489629" y="2089238"/>
                </a:lnTo>
                <a:lnTo>
                  <a:pt x="4288917" y="2089238"/>
                </a:lnTo>
                <a:close/>
              </a:path>
              <a:path w="8395970" h="2089784">
                <a:moveTo>
                  <a:pt x="6131166" y="0"/>
                </a:moveTo>
                <a:lnTo>
                  <a:pt x="4116705" y="0"/>
                </a:lnTo>
                <a:lnTo>
                  <a:pt x="4116705" y="604520"/>
                </a:lnTo>
                <a:lnTo>
                  <a:pt x="4711306" y="604520"/>
                </a:lnTo>
                <a:lnTo>
                  <a:pt x="4711306" y="2089150"/>
                </a:lnTo>
                <a:lnTo>
                  <a:pt x="5546331" y="2089150"/>
                </a:lnTo>
                <a:lnTo>
                  <a:pt x="5546331" y="604520"/>
                </a:lnTo>
                <a:lnTo>
                  <a:pt x="6131166" y="604520"/>
                </a:lnTo>
                <a:lnTo>
                  <a:pt x="6131166" y="0"/>
                </a:lnTo>
                <a:close/>
              </a:path>
              <a:path w="8395970" h="2089784">
                <a:moveTo>
                  <a:pt x="8395906" y="2089238"/>
                </a:moveTo>
                <a:lnTo>
                  <a:pt x="7593355" y="0"/>
                </a:lnTo>
                <a:lnTo>
                  <a:pt x="6716065" y="0"/>
                </a:lnTo>
                <a:lnTo>
                  <a:pt x="5936234" y="2089238"/>
                </a:lnTo>
                <a:lnTo>
                  <a:pt x="6716065" y="2089238"/>
                </a:lnTo>
                <a:lnTo>
                  <a:pt x="7151446" y="844765"/>
                </a:lnTo>
                <a:lnTo>
                  <a:pt x="7593355" y="2089238"/>
                </a:lnTo>
                <a:lnTo>
                  <a:pt x="8395906" y="20892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 dirty="0"/>
          </a:p>
        </p:txBody>
      </p:sp>
      <p:sp>
        <p:nvSpPr>
          <p:cNvPr id="6" name="object 6"/>
          <p:cNvSpPr/>
          <p:nvPr/>
        </p:nvSpPr>
        <p:spPr>
          <a:xfrm>
            <a:off x="7639739" y="1996572"/>
            <a:ext cx="931086" cy="1266862"/>
          </a:xfrm>
          <a:custGeom>
            <a:avLst/>
            <a:gdLst/>
            <a:ahLst/>
            <a:cxnLst/>
            <a:rect l="l" t="t" r="r" b="b"/>
            <a:pathLst>
              <a:path w="1535430" h="2089150">
                <a:moveTo>
                  <a:pt x="1534998" y="1484630"/>
                </a:moveTo>
                <a:lnTo>
                  <a:pt x="736561" y="1484630"/>
                </a:lnTo>
                <a:lnTo>
                  <a:pt x="736561" y="0"/>
                </a:lnTo>
                <a:lnTo>
                  <a:pt x="0" y="0"/>
                </a:lnTo>
                <a:lnTo>
                  <a:pt x="0" y="1484630"/>
                </a:lnTo>
                <a:lnTo>
                  <a:pt x="0" y="2089150"/>
                </a:lnTo>
                <a:lnTo>
                  <a:pt x="1534998" y="2089150"/>
                </a:lnTo>
                <a:lnTo>
                  <a:pt x="1534998" y="1484630"/>
                </a:lnTo>
                <a:close/>
              </a:path>
            </a:pathLst>
          </a:custGeom>
          <a:solidFill>
            <a:srgbClr val="ED0080"/>
          </a:solidFill>
        </p:spPr>
        <p:txBody>
          <a:bodyPr wrap="square" lIns="0" tIns="0" rIns="0" bIns="0" rtlCol="0"/>
          <a:lstStyle/>
          <a:p>
            <a:endParaRPr sz="1092" dirty="0"/>
          </a:p>
        </p:txBody>
      </p:sp>
      <p:sp>
        <p:nvSpPr>
          <p:cNvPr id="7" name="object 7"/>
          <p:cNvSpPr/>
          <p:nvPr/>
        </p:nvSpPr>
        <p:spPr>
          <a:xfrm>
            <a:off x="6346296" y="1996560"/>
            <a:ext cx="1138636" cy="1267248"/>
          </a:xfrm>
          <a:custGeom>
            <a:avLst/>
            <a:gdLst/>
            <a:ahLst/>
            <a:cxnLst/>
            <a:rect l="l" t="t" r="r" b="b"/>
            <a:pathLst>
              <a:path w="1877695" h="2089784">
                <a:moveTo>
                  <a:pt x="1016010" y="0"/>
                </a:moveTo>
                <a:lnTo>
                  <a:pt x="0" y="0"/>
                </a:lnTo>
                <a:lnTo>
                  <a:pt x="0" y="2089213"/>
                </a:lnTo>
                <a:lnTo>
                  <a:pt x="704083" y="2089213"/>
                </a:lnTo>
                <a:lnTo>
                  <a:pt x="704083" y="1601836"/>
                </a:lnTo>
                <a:lnTo>
                  <a:pt x="990001" y="1601836"/>
                </a:lnTo>
                <a:lnTo>
                  <a:pt x="1048757" y="1600632"/>
                </a:lnTo>
                <a:lnTo>
                  <a:pt x="1105461" y="1597061"/>
                </a:lnTo>
                <a:lnTo>
                  <a:pt x="1160115" y="1591180"/>
                </a:lnTo>
                <a:lnTo>
                  <a:pt x="1212725" y="1583046"/>
                </a:lnTo>
                <a:lnTo>
                  <a:pt x="1263295" y="1572717"/>
                </a:lnTo>
                <a:lnTo>
                  <a:pt x="1311829" y="1560252"/>
                </a:lnTo>
                <a:lnTo>
                  <a:pt x="1358331" y="1545707"/>
                </a:lnTo>
                <a:lnTo>
                  <a:pt x="1402806" y="1529140"/>
                </a:lnTo>
                <a:lnTo>
                  <a:pt x="1445258" y="1510610"/>
                </a:lnTo>
                <a:lnTo>
                  <a:pt x="1485692" y="1490173"/>
                </a:lnTo>
                <a:lnTo>
                  <a:pt x="1524111" y="1467888"/>
                </a:lnTo>
                <a:lnTo>
                  <a:pt x="1560520" y="1443813"/>
                </a:lnTo>
                <a:lnTo>
                  <a:pt x="1594923" y="1418005"/>
                </a:lnTo>
                <a:lnTo>
                  <a:pt x="1627325" y="1390521"/>
                </a:lnTo>
                <a:lnTo>
                  <a:pt x="1657729" y="1361420"/>
                </a:lnTo>
                <a:lnTo>
                  <a:pt x="1686141" y="1330759"/>
                </a:lnTo>
                <a:lnTo>
                  <a:pt x="1712564" y="1298597"/>
                </a:lnTo>
                <a:lnTo>
                  <a:pt x="1737003" y="1264990"/>
                </a:lnTo>
                <a:lnTo>
                  <a:pt x="1759462" y="1229996"/>
                </a:lnTo>
                <a:lnTo>
                  <a:pt x="1779946" y="1193674"/>
                </a:lnTo>
                <a:lnTo>
                  <a:pt x="1798458" y="1156081"/>
                </a:lnTo>
                <a:lnTo>
                  <a:pt x="1815004" y="1117274"/>
                </a:lnTo>
                <a:lnTo>
                  <a:pt x="1829587" y="1077312"/>
                </a:lnTo>
                <a:lnTo>
                  <a:pt x="1842128" y="1036523"/>
                </a:lnTo>
                <a:lnTo>
                  <a:pt x="704083" y="1036523"/>
                </a:lnTo>
                <a:lnTo>
                  <a:pt x="704083" y="604379"/>
                </a:lnTo>
                <a:lnTo>
                  <a:pt x="1861491" y="604379"/>
                </a:lnTo>
                <a:lnTo>
                  <a:pt x="1856317" y="578045"/>
                </a:lnTo>
                <a:lnTo>
                  <a:pt x="1844849" y="533697"/>
                </a:lnTo>
                <a:lnTo>
                  <a:pt x="1830969" y="490877"/>
                </a:lnTo>
                <a:lnTo>
                  <a:pt x="1814726" y="449616"/>
                </a:lnTo>
                <a:lnTo>
                  <a:pt x="1796170" y="409947"/>
                </a:lnTo>
                <a:lnTo>
                  <a:pt x="1775352" y="371901"/>
                </a:lnTo>
                <a:lnTo>
                  <a:pt x="1752321" y="335510"/>
                </a:lnTo>
                <a:lnTo>
                  <a:pt x="1727126" y="300807"/>
                </a:lnTo>
                <a:lnTo>
                  <a:pt x="1699817" y="267823"/>
                </a:lnTo>
                <a:lnTo>
                  <a:pt x="1670445" y="236590"/>
                </a:lnTo>
                <a:lnTo>
                  <a:pt x="1639058" y="207141"/>
                </a:lnTo>
                <a:lnTo>
                  <a:pt x="1605707" y="179507"/>
                </a:lnTo>
                <a:lnTo>
                  <a:pt x="1570441" y="153720"/>
                </a:lnTo>
                <a:lnTo>
                  <a:pt x="1533310" y="129812"/>
                </a:lnTo>
                <a:lnTo>
                  <a:pt x="1494364" y="107816"/>
                </a:lnTo>
                <a:lnTo>
                  <a:pt x="1453653" y="87762"/>
                </a:lnTo>
                <a:lnTo>
                  <a:pt x="1411226" y="69684"/>
                </a:lnTo>
                <a:lnTo>
                  <a:pt x="1367132" y="53613"/>
                </a:lnTo>
                <a:lnTo>
                  <a:pt x="1321423" y="39581"/>
                </a:lnTo>
                <a:lnTo>
                  <a:pt x="1274147" y="27620"/>
                </a:lnTo>
                <a:lnTo>
                  <a:pt x="1225354" y="17762"/>
                </a:lnTo>
                <a:lnTo>
                  <a:pt x="1175094" y="10039"/>
                </a:lnTo>
                <a:lnTo>
                  <a:pt x="1123417" y="4483"/>
                </a:lnTo>
                <a:lnTo>
                  <a:pt x="1070373" y="1126"/>
                </a:lnTo>
                <a:lnTo>
                  <a:pt x="1016010" y="0"/>
                </a:lnTo>
                <a:close/>
              </a:path>
              <a:path w="1877695" h="2089784">
                <a:moveTo>
                  <a:pt x="1861491" y="604379"/>
                </a:moveTo>
                <a:lnTo>
                  <a:pt x="944536" y="604379"/>
                </a:lnTo>
                <a:lnTo>
                  <a:pt x="997364" y="608378"/>
                </a:lnTo>
                <a:lnTo>
                  <a:pt x="1043641" y="619918"/>
                </a:lnTo>
                <a:lnTo>
                  <a:pt x="1083215" y="638312"/>
                </a:lnTo>
                <a:lnTo>
                  <a:pt x="1115935" y="662873"/>
                </a:lnTo>
                <a:lnTo>
                  <a:pt x="1141649" y="692916"/>
                </a:lnTo>
                <a:lnTo>
                  <a:pt x="1160204" y="727753"/>
                </a:lnTo>
                <a:lnTo>
                  <a:pt x="1171449" y="766698"/>
                </a:lnTo>
                <a:lnTo>
                  <a:pt x="1175231" y="809064"/>
                </a:lnTo>
                <a:lnTo>
                  <a:pt x="1170883" y="859891"/>
                </a:lnTo>
                <a:lnTo>
                  <a:pt x="1158120" y="904928"/>
                </a:lnTo>
                <a:lnTo>
                  <a:pt x="1137362" y="943871"/>
                </a:lnTo>
                <a:lnTo>
                  <a:pt x="1109027" y="976415"/>
                </a:lnTo>
                <a:lnTo>
                  <a:pt x="1073536" y="1002256"/>
                </a:lnTo>
                <a:lnTo>
                  <a:pt x="1031307" y="1021090"/>
                </a:lnTo>
                <a:lnTo>
                  <a:pt x="982761" y="1032614"/>
                </a:lnTo>
                <a:lnTo>
                  <a:pt x="928317" y="1036523"/>
                </a:lnTo>
                <a:lnTo>
                  <a:pt x="1842128" y="1036523"/>
                </a:lnTo>
                <a:lnTo>
                  <a:pt x="1852881" y="994152"/>
                </a:lnTo>
                <a:lnTo>
                  <a:pt x="1861602" y="951070"/>
                </a:lnTo>
                <a:lnTo>
                  <a:pt x="1868377" y="907062"/>
                </a:lnTo>
                <a:lnTo>
                  <a:pt x="1873211" y="862188"/>
                </a:lnTo>
                <a:lnTo>
                  <a:pt x="1876108" y="816505"/>
                </a:lnTo>
                <a:lnTo>
                  <a:pt x="1877073" y="770070"/>
                </a:lnTo>
                <a:lnTo>
                  <a:pt x="1875751" y="719933"/>
                </a:lnTo>
                <a:lnTo>
                  <a:pt x="1871818" y="671194"/>
                </a:lnTo>
                <a:lnTo>
                  <a:pt x="1865323" y="623888"/>
                </a:lnTo>
                <a:lnTo>
                  <a:pt x="1861491" y="604379"/>
                </a:lnTo>
                <a:close/>
              </a:path>
            </a:pathLst>
          </a:custGeom>
          <a:solidFill>
            <a:srgbClr val="ED0080"/>
          </a:solidFill>
        </p:spPr>
        <p:txBody>
          <a:bodyPr wrap="square" lIns="0" tIns="0" rIns="0" bIns="0" rtlCol="0"/>
          <a:lstStyle/>
          <a:p>
            <a:endParaRPr sz="1092" dirty="0"/>
          </a:p>
        </p:txBody>
      </p:sp>
      <p:sp>
        <p:nvSpPr>
          <p:cNvPr id="8" name="object 8"/>
          <p:cNvSpPr/>
          <p:nvPr/>
        </p:nvSpPr>
        <p:spPr>
          <a:xfrm>
            <a:off x="8706045" y="1996571"/>
            <a:ext cx="2717786" cy="1267248"/>
          </a:xfrm>
          <a:custGeom>
            <a:avLst/>
            <a:gdLst/>
            <a:ahLst/>
            <a:cxnLst/>
            <a:rect l="l" t="t" r="r" b="b"/>
            <a:pathLst>
              <a:path w="4481830" h="2089784">
                <a:moveTo>
                  <a:pt x="2459672" y="2089238"/>
                </a:moveTo>
                <a:lnTo>
                  <a:pt x="1657146" y="0"/>
                </a:lnTo>
                <a:lnTo>
                  <a:pt x="779843" y="0"/>
                </a:lnTo>
                <a:lnTo>
                  <a:pt x="0" y="2089238"/>
                </a:lnTo>
                <a:lnTo>
                  <a:pt x="779843" y="2089238"/>
                </a:lnTo>
                <a:lnTo>
                  <a:pt x="1215212" y="844765"/>
                </a:lnTo>
                <a:lnTo>
                  <a:pt x="1657146" y="2089238"/>
                </a:lnTo>
                <a:lnTo>
                  <a:pt x="2459672" y="2089238"/>
                </a:lnTo>
                <a:close/>
              </a:path>
              <a:path w="4481830" h="2089784">
                <a:moveTo>
                  <a:pt x="4481246" y="0"/>
                </a:moveTo>
                <a:lnTo>
                  <a:pt x="3717391" y="0"/>
                </a:lnTo>
                <a:lnTo>
                  <a:pt x="3298228" y="799312"/>
                </a:lnTo>
                <a:lnTo>
                  <a:pt x="2911614" y="0"/>
                </a:lnTo>
                <a:lnTo>
                  <a:pt x="2145296" y="0"/>
                </a:lnTo>
                <a:lnTo>
                  <a:pt x="2888513" y="1484934"/>
                </a:lnTo>
                <a:lnTo>
                  <a:pt x="2888513" y="2089238"/>
                </a:lnTo>
                <a:lnTo>
                  <a:pt x="3676345" y="2089238"/>
                </a:lnTo>
                <a:lnTo>
                  <a:pt x="3676345" y="1461947"/>
                </a:lnTo>
                <a:lnTo>
                  <a:pt x="4481246" y="0"/>
                </a:lnTo>
                <a:close/>
              </a:path>
            </a:pathLst>
          </a:custGeom>
          <a:solidFill>
            <a:srgbClr val="ED0080"/>
          </a:solidFill>
        </p:spPr>
        <p:txBody>
          <a:bodyPr wrap="square" lIns="0" tIns="0" rIns="0" bIns="0" rtlCol="0"/>
          <a:lstStyle/>
          <a:p>
            <a:endParaRPr sz="109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>
            <a:extLst>
              <a:ext uri="{FF2B5EF4-FFF2-40B4-BE49-F238E27FC236}">
                <a16:creationId xmlns:a16="http://schemas.microsoft.com/office/drawing/2014/main" id="{CF2C768C-3A68-A594-6FB6-58A4F4261E7F}"/>
              </a:ext>
            </a:extLst>
          </p:cNvPr>
          <p:cNvGrpSpPr/>
          <p:nvPr/>
        </p:nvGrpSpPr>
        <p:grpSpPr>
          <a:xfrm>
            <a:off x="428" y="0"/>
            <a:ext cx="12191144" cy="485181"/>
            <a:chOff x="0" y="0"/>
            <a:chExt cx="20104100" cy="800100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E1589C28-56FC-C875-0C6A-1110CE3BB9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10627" y="300734"/>
              <a:ext cx="790870" cy="198423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0B4D78E0-CD0B-3E12-DCA0-AE928D61E3CE}"/>
                </a:ext>
              </a:extLst>
            </p:cNvPr>
            <p:cNvSpPr/>
            <p:nvPr/>
          </p:nvSpPr>
          <p:spPr>
            <a:xfrm>
              <a:off x="0" y="0"/>
              <a:ext cx="20104100" cy="800100"/>
            </a:xfrm>
            <a:custGeom>
              <a:avLst/>
              <a:gdLst/>
              <a:ahLst/>
              <a:cxnLst/>
              <a:rect l="l" t="t" r="r" b="b"/>
              <a:pathLst>
                <a:path w="20104100" h="800100">
                  <a:moveTo>
                    <a:pt x="20104099" y="0"/>
                  </a:moveTo>
                  <a:lnTo>
                    <a:pt x="0" y="0"/>
                  </a:lnTo>
                  <a:lnTo>
                    <a:pt x="0" y="799912"/>
                  </a:lnTo>
                  <a:lnTo>
                    <a:pt x="20104099" y="799912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382A7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8" name="object 6">
            <a:extLst>
              <a:ext uri="{FF2B5EF4-FFF2-40B4-BE49-F238E27FC236}">
                <a16:creationId xmlns:a16="http://schemas.microsoft.com/office/drawing/2014/main" id="{CD936C51-6246-EFC6-612A-D1CA45C58F54}"/>
              </a:ext>
            </a:extLst>
          </p:cNvPr>
          <p:cNvSpPr txBox="1"/>
          <p:nvPr/>
        </p:nvSpPr>
        <p:spPr>
          <a:xfrm>
            <a:off x="305207" y="43670"/>
            <a:ext cx="7988400" cy="381861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lang="en-GB" sz="2426" dirty="0">
                <a:solidFill>
                  <a:schemeClr val="bg1"/>
                </a:solidFill>
                <a:latin typeface="Aptos" panose="020B0004020202020204" pitchFamily="34" charset="0"/>
                <a:cs typeface="VoltePlay-Medium"/>
              </a:rPr>
              <a:t>Goal Setting – Process Workflow</a:t>
            </a:r>
            <a:endParaRPr lang="en-IN" sz="2426" dirty="0">
              <a:solidFill>
                <a:schemeClr val="bg1"/>
              </a:solidFill>
              <a:latin typeface="Aptos" panose="020B0004020202020204" pitchFamily="34" charset="0"/>
              <a:cs typeface="VoltePlay-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0EE5B-1974-F0DE-F69B-5FB6B437F0C4}"/>
              </a:ext>
            </a:extLst>
          </p:cNvPr>
          <p:cNvSpPr txBox="1"/>
          <p:nvPr/>
        </p:nvSpPr>
        <p:spPr>
          <a:xfrm>
            <a:off x="212598" y="930111"/>
            <a:ext cx="11345418" cy="439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Navigation: Log in to Tata Play Universe → Me → Career and Performance → Goal </a:t>
            </a:r>
            <a:r>
              <a:rPr lang="en-IN" sz="15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Center</a:t>
            </a:r>
            <a:r>
              <a:rPr lang="en-IN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Copy Previous Goals: Use the “Copy previous goals” button to import goals from the last FY.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 New Goals: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Click “Add” to create new goals.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Fill in goal name, description, success criteria/milestones.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AI Assist for goal detail suggestions.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 total weightage equals 100%; adjust if needed.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Click “Submit” to send goals for approval.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endParaRPr lang="en-IN" sz="15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5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Goal Modification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15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Goals and weights can be added/modified anytime before the appraisal process via the Goal </a:t>
            </a:r>
            <a:r>
              <a:rPr lang="en-IN" sz="1500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Center</a:t>
            </a:r>
            <a:r>
              <a:rPr lang="en-IN" sz="15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IN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01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0627B-D7D2-F950-D9CC-E1675CA7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30FA54-B0FD-779E-9FDF-A258CD0CA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687788"/>
            <a:ext cx="8530155" cy="3959777"/>
          </a:xfrm>
          <a:prstGeom prst="rect">
            <a:avLst/>
          </a:prstGeom>
        </p:spPr>
      </p:pic>
      <p:grpSp>
        <p:nvGrpSpPr>
          <p:cNvPr id="3" name="object 2">
            <a:extLst>
              <a:ext uri="{FF2B5EF4-FFF2-40B4-BE49-F238E27FC236}">
                <a16:creationId xmlns:a16="http://schemas.microsoft.com/office/drawing/2014/main" id="{CBE18E95-81E3-74FE-544A-4D89E9664B87}"/>
              </a:ext>
            </a:extLst>
          </p:cNvPr>
          <p:cNvGrpSpPr/>
          <p:nvPr/>
        </p:nvGrpSpPr>
        <p:grpSpPr>
          <a:xfrm>
            <a:off x="428" y="0"/>
            <a:ext cx="12191144" cy="485181"/>
            <a:chOff x="0" y="0"/>
            <a:chExt cx="20104100" cy="800100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7925B43E-1811-C9CF-6C52-AAE2C87862D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10627" y="300734"/>
              <a:ext cx="790870" cy="198423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F34CFA2A-85AF-E7D7-4CED-C01E4EE9BBA0}"/>
                </a:ext>
              </a:extLst>
            </p:cNvPr>
            <p:cNvSpPr/>
            <p:nvPr/>
          </p:nvSpPr>
          <p:spPr>
            <a:xfrm>
              <a:off x="0" y="0"/>
              <a:ext cx="20104100" cy="800100"/>
            </a:xfrm>
            <a:custGeom>
              <a:avLst/>
              <a:gdLst/>
              <a:ahLst/>
              <a:cxnLst/>
              <a:rect l="l" t="t" r="r" b="b"/>
              <a:pathLst>
                <a:path w="20104100" h="800100">
                  <a:moveTo>
                    <a:pt x="20104099" y="0"/>
                  </a:moveTo>
                  <a:lnTo>
                    <a:pt x="0" y="0"/>
                  </a:lnTo>
                  <a:lnTo>
                    <a:pt x="0" y="799912"/>
                  </a:lnTo>
                  <a:lnTo>
                    <a:pt x="20104099" y="799912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382A7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8" name="object 6">
            <a:extLst>
              <a:ext uri="{FF2B5EF4-FFF2-40B4-BE49-F238E27FC236}">
                <a16:creationId xmlns:a16="http://schemas.microsoft.com/office/drawing/2014/main" id="{95E5DB79-6CD5-295E-283B-EDAF9ADA27A0}"/>
              </a:ext>
            </a:extLst>
          </p:cNvPr>
          <p:cNvSpPr txBox="1"/>
          <p:nvPr/>
        </p:nvSpPr>
        <p:spPr>
          <a:xfrm>
            <a:off x="305207" y="43670"/>
            <a:ext cx="7988400" cy="381861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lang="en-GB" sz="2426" b="1" i="1" dirty="0">
                <a:solidFill>
                  <a:schemeClr val="bg1"/>
                </a:solidFill>
                <a:latin typeface="Aptos" panose="020B0004020202020204" pitchFamily="34" charset="0"/>
                <a:cs typeface="VoltePlay-Medium"/>
              </a:rPr>
              <a:t>Navigation to Goals Module</a:t>
            </a:r>
            <a:endParaRPr lang="en-IN" sz="2426" i="1" dirty="0">
              <a:solidFill>
                <a:schemeClr val="bg1"/>
              </a:solidFill>
              <a:latin typeface="Aptos" panose="020B0004020202020204" pitchFamily="34" charset="0"/>
              <a:cs typeface="VoltePlay-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C248C-BC79-FD1F-1C2D-923DDF0E3097}"/>
              </a:ext>
            </a:extLst>
          </p:cNvPr>
          <p:cNvSpPr txBox="1"/>
          <p:nvPr/>
        </p:nvSpPr>
        <p:spPr>
          <a:xfrm>
            <a:off x="203454" y="618431"/>
            <a:ext cx="6094476" cy="193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Navigation: Log in to Tata Play Universe → Me → Career and Performance → Goal </a:t>
            </a:r>
            <a:r>
              <a:rPr lang="en-IN" sz="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Center</a:t>
            </a:r>
            <a:r>
              <a:rPr lang="en-IN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Copy Previous Goals: Use the “Copy previous goals” button to import goals from the last FY.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 New Goals: 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Click “Add” to create new goals.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Fill in goal name, description, success criteria/milestones.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AI Assist for goal detail suggestions.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 total weightage equals 100%; adjust if needed.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Click “Submit” to send goals for approval.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681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279F17-EAC4-50A7-8F30-4D6B30C3B58B}"/>
              </a:ext>
            </a:extLst>
          </p:cNvPr>
          <p:cNvSpPr txBox="1"/>
          <p:nvPr/>
        </p:nvSpPr>
        <p:spPr>
          <a:xfrm>
            <a:off x="305207" y="881708"/>
            <a:ext cx="114517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latin typeface="+mj-lt"/>
              </a:rPr>
              <a:t>To Copy previous FY goals click on ‘Copy previous goals’ button.</a:t>
            </a:r>
          </a:p>
          <a:p>
            <a:r>
              <a:rPr lang="en-IN" sz="1500" dirty="0">
                <a:latin typeface="+mj-lt"/>
              </a:rPr>
              <a:t>Then select the review period and goals you want to copy then click on ‘Add’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BA87D6-98C7-DED6-3F14-E5A163AF6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07" y="1728216"/>
            <a:ext cx="5285631" cy="4669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C1AD41-5617-65F3-901E-91BDEAAA7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289" y="1728215"/>
            <a:ext cx="5029200" cy="4669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E95760-8CCE-6CA9-67A9-945E8AB0C6DA}"/>
              </a:ext>
            </a:extLst>
          </p:cNvPr>
          <p:cNvSpPr txBox="1"/>
          <p:nvPr/>
        </p:nvSpPr>
        <p:spPr>
          <a:xfrm>
            <a:off x="2404872" y="3429000"/>
            <a:ext cx="1335024" cy="1828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B856B-3AC7-85E9-3E46-C09DC2AE8E56}"/>
              </a:ext>
            </a:extLst>
          </p:cNvPr>
          <p:cNvSpPr txBox="1"/>
          <p:nvPr/>
        </p:nvSpPr>
        <p:spPr>
          <a:xfrm>
            <a:off x="8494776" y="2075688"/>
            <a:ext cx="1508760" cy="1828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6EB912AF-1153-99F3-8E15-47608423065B}"/>
              </a:ext>
            </a:extLst>
          </p:cNvPr>
          <p:cNvGrpSpPr/>
          <p:nvPr/>
        </p:nvGrpSpPr>
        <p:grpSpPr>
          <a:xfrm>
            <a:off x="428" y="0"/>
            <a:ext cx="12191144" cy="485181"/>
            <a:chOff x="0" y="0"/>
            <a:chExt cx="20104100" cy="800100"/>
          </a:xfrm>
        </p:grpSpPr>
        <p:pic>
          <p:nvPicPr>
            <p:cNvPr id="6" name="object 3">
              <a:extLst>
                <a:ext uri="{FF2B5EF4-FFF2-40B4-BE49-F238E27FC236}">
                  <a16:creationId xmlns:a16="http://schemas.microsoft.com/office/drawing/2014/main" id="{629ED753-C8CA-D68E-5FC9-F5130B73B6F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10627" y="300734"/>
              <a:ext cx="790870" cy="198423"/>
            </a:xfrm>
            <a:prstGeom prst="rect">
              <a:avLst/>
            </a:prstGeom>
          </p:spPr>
        </p:pic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24BDF84F-2ABB-0E87-AB53-DD998123BE6E}"/>
                </a:ext>
              </a:extLst>
            </p:cNvPr>
            <p:cNvSpPr/>
            <p:nvPr/>
          </p:nvSpPr>
          <p:spPr>
            <a:xfrm>
              <a:off x="0" y="0"/>
              <a:ext cx="20104100" cy="800100"/>
            </a:xfrm>
            <a:custGeom>
              <a:avLst/>
              <a:gdLst/>
              <a:ahLst/>
              <a:cxnLst/>
              <a:rect l="l" t="t" r="r" b="b"/>
              <a:pathLst>
                <a:path w="20104100" h="800100">
                  <a:moveTo>
                    <a:pt x="20104099" y="0"/>
                  </a:moveTo>
                  <a:lnTo>
                    <a:pt x="0" y="0"/>
                  </a:lnTo>
                  <a:lnTo>
                    <a:pt x="0" y="799912"/>
                  </a:lnTo>
                  <a:lnTo>
                    <a:pt x="20104099" y="799912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382A7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8F3F8E70-DC1B-CA9C-25D6-4C41A38D2B90}"/>
              </a:ext>
            </a:extLst>
          </p:cNvPr>
          <p:cNvSpPr txBox="1"/>
          <p:nvPr/>
        </p:nvSpPr>
        <p:spPr>
          <a:xfrm>
            <a:off x="305207" y="43670"/>
            <a:ext cx="7988400" cy="381861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lang="en-GB" sz="2426" dirty="0">
                <a:solidFill>
                  <a:schemeClr val="bg1"/>
                </a:solidFill>
                <a:latin typeface="Aptos" panose="020B0004020202020204" pitchFamily="34" charset="0"/>
                <a:cs typeface="VoltePlay-Medium"/>
              </a:rPr>
              <a:t>Previous Years FY Goals </a:t>
            </a:r>
            <a:endParaRPr lang="en-IN" sz="2426" dirty="0">
              <a:solidFill>
                <a:schemeClr val="bg1"/>
              </a:solidFill>
              <a:latin typeface="Aptos" panose="020B0004020202020204" pitchFamily="34" charset="0"/>
              <a:cs typeface="VoltePlay-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F164FE-6D5D-12FE-633B-257D7CA78F8D}"/>
              </a:ext>
            </a:extLst>
          </p:cNvPr>
          <p:cNvSpPr txBox="1"/>
          <p:nvPr/>
        </p:nvSpPr>
        <p:spPr>
          <a:xfrm>
            <a:off x="8581644" y="2551077"/>
            <a:ext cx="1335024" cy="1828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4693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76CABA-40FD-52A1-B52F-5B13CE2C7597}"/>
              </a:ext>
            </a:extLst>
          </p:cNvPr>
          <p:cNvSpPr txBox="1"/>
          <p:nvPr/>
        </p:nvSpPr>
        <p:spPr>
          <a:xfrm>
            <a:off x="305207" y="650257"/>
            <a:ext cx="1150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EYInterstate Light" panose="02000506000000020004"/>
              </a:rPr>
              <a:t>To add new goals click on the ‘Add’ button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29AC3-3F95-C044-2959-93147B477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07" y="1215443"/>
            <a:ext cx="10736798" cy="53504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35002B-5C36-3B7F-E920-73779F9DF272}"/>
              </a:ext>
            </a:extLst>
          </p:cNvPr>
          <p:cNvSpPr txBox="1"/>
          <p:nvPr/>
        </p:nvSpPr>
        <p:spPr>
          <a:xfrm>
            <a:off x="2578608" y="3145536"/>
            <a:ext cx="1508760" cy="1828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BD357DB0-D392-FE5C-07F1-DBFDE21030AF}"/>
              </a:ext>
            </a:extLst>
          </p:cNvPr>
          <p:cNvGrpSpPr/>
          <p:nvPr/>
        </p:nvGrpSpPr>
        <p:grpSpPr>
          <a:xfrm>
            <a:off x="428" y="0"/>
            <a:ext cx="12191144" cy="485181"/>
            <a:chOff x="0" y="0"/>
            <a:chExt cx="20104100" cy="800100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1EA27353-9980-D010-7405-82AA13812A7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10627" y="300734"/>
              <a:ext cx="790870" cy="198423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9EECF068-9B22-4BFE-0CC9-9744EA0E1E65}"/>
                </a:ext>
              </a:extLst>
            </p:cNvPr>
            <p:cNvSpPr/>
            <p:nvPr/>
          </p:nvSpPr>
          <p:spPr>
            <a:xfrm>
              <a:off x="0" y="0"/>
              <a:ext cx="20104100" cy="800100"/>
            </a:xfrm>
            <a:custGeom>
              <a:avLst/>
              <a:gdLst/>
              <a:ahLst/>
              <a:cxnLst/>
              <a:rect l="l" t="t" r="r" b="b"/>
              <a:pathLst>
                <a:path w="20104100" h="800100">
                  <a:moveTo>
                    <a:pt x="20104099" y="0"/>
                  </a:moveTo>
                  <a:lnTo>
                    <a:pt x="0" y="0"/>
                  </a:lnTo>
                  <a:lnTo>
                    <a:pt x="0" y="799912"/>
                  </a:lnTo>
                  <a:lnTo>
                    <a:pt x="20104099" y="799912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382A7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8" name="object 6">
            <a:extLst>
              <a:ext uri="{FF2B5EF4-FFF2-40B4-BE49-F238E27FC236}">
                <a16:creationId xmlns:a16="http://schemas.microsoft.com/office/drawing/2014/main" id="{3E23DDB7-2DDD-B7C2-43F5-61B526766373}"/>
              </a:ext>
            </a:extLst>
          </p:cNvPr>
          <p:cNvSpPr txBox="1"/>
          <p:nvPr/>
        </p:nvSpPr>
        <p:spPr>
          <a:xfrm>
            <a:off x="305207" y="43670"/>
            <a:ext cx="7988400" cy="381861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lang="en-GB" sz="2426" dirty="0">
                <a:solidFill>
                  <a:schemeClr val="bg1"/>
                </a:solidFill>
                <a:latin typeface="Aptos" panose="020B0004020202020204" pitchFamily="34" charset="0"/>
                <a:cs typeface="VoltePlay-Medium"/>
              </a:rPr>
              <a:t>Addition of new goals</a:t>
            </a:r>
            <a:endParaRPr lang="en-IN" sz="2426" dirty="0">
              <a:solidFill>
                <a:schemeClr val="bg1"/>
              </a:solidFill>
              <a:latin typeface="Aptos" panose="020B0004020202020204" pitchFamily="34" charset="0"/>
              <a:cs typeface="VoltePlay-Medium"/>
            </a:endParaRPr>
          </a:p>
        </p:txBody>
      </p:sp>
    </p:spTree>
    <p:extLst>
      <p:ext uri="{BB962C8B-B14F-4D97-AF65-F5344CB8AC3E}">
        <p14:creationId xmlns:p14="http://schemas.microsoft.com/office/powerpoint/2010/main" val="2801657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69149F-81F7-4383-867D-82B730E4E31C}"/>
              </a:ext>
            </a:extLst>
          </p:cNvPr>
          <p:cNvSpPr txBox="1"/>
          <p:nvPr/>
        </p:nvSpPr>
        <p:spPr>
          <a:xfrm>
            <a:off x="984939" y="637544"/>
            <a:ext cx="116259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Fill the Goal details in the Add Goal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Can click on “AI Assist” to generate goal details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DBCE67-AA64-1A68-4B2F-2D1D08ADB0D5}"/>
              </a:ext>
            </a:extLst>
          </p:cNvPr>
          <p:cNvGrpSpPr/>
          <p:nvPr/>
        </p:nvGrpSpPr>
        <p:grpSpPr>
          <a:xfrm>
            <a:off x="138029" y="1320701"/>
            <a:ext cx="11915939" cy="5482612"/>
            <a:chOff x="-555572" y="978388"/>
            <a:chExt cx="15972945" cy="686922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D91D1F0-B577-2109-D9A6-E0045C90A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332"/>
            <a:stretch>
              <a:fillRect/>
            </a:stretch>
          </p:blipFill>
          <p:spPr>
            <a:xfrm>
              <a:off x="-555572" y="978388"/>
              <a:ext cx="11448913" cy="686922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3B56F-0E06-0FC7-BBBF-BE3B3DC195B8}"/>
                </a:ext>
              </a:extLst>
            </p:cNvPr>
            <p:cNvSpPr txBox="1"/>
            <p:nvPr/>
          </p:nvSpPr>
          <p:spPr>
            <a:xfrm>
              <a:off x="11357307" y="1955969"/>
              <a:ext cx="4060066" cy="3470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>
                  <a:highlight>
                    <a:srgbClr val="FFFF00"/>
                  </a:highlight>
                </a:defRPr>
              </a:lvl1pPr>
            </a:lstStyle>
            <a:p>
              <a:r>
                <a:rPr lang="en-IN" dirty="0"/>
                <a:t>Write goal name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F5BAAB-A3FE-C593-8A6A-72AFC1BB0D04}"/>
                </a:ext>
              </a:extLst>
            </p:cNvPr>
            <p:cNvSpPr txBox="1"/>
            <p:nvPr/>
          </p:nvSpPr>
          <p:spPr>
            <a:xfrm>
              <a:off x="11357306" y="2393162"/>
              <a:ext cx="4060067" cy="8097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IN" dirty="0"/>
                <a:t>*(New) Click on the AI assist to generate a sample goal. Please modify this basis goal requirement</a:t>
              </a:r>
            </a:p>
          </p:txBody>
        </p:sp>
      </p:grpSp>
      <p:grpSp>
        <p:nvGrpSpPr>
          <p:cNvPr id="3" name="object 2">
            <a:extLst>
              <a:ext uri="{FF2B5EF4-FFF2-40B4-BE49-F238E27FC236}">
                <a16:creationId xmlns:a16="http://schemas.microsoft.com/office/drawing/2014/main" id="{55E05E63-7393-9CB9-2B24-E8E0AA0788CB}"/>
              </a:ext>
            </a:extLst>
          </p:cNvPr>
          <p:cNvGrpSpPr/>
          <p:nvPr/>
        </p:nvGrpSpPr>
        <p:grpSpPr>
          <a:xfrm>
            <a:off x="428" y="0"/>
            <a:ext cx="12191144" cy="485181"/>
            <a:chOff x="0" y="0"/>
            <a:chExt cx="20104100" cy="800100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82377809-B487-2DF9-64A2-7CF70779246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10627" y="300734"/>
              <a:ext cx="790870" cy="198423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2AFAE959-D69A-9DFB-9F40-FD5FB7CEC1A2}"/>
                </a:ext>
              </a:extLst>
            </p:cNvPr>
            <p:cNvSpPr/>
            <p:nvPr/>
          </p:nvSpPr>
          <p:spPr>
            <a:xfrm>
              <a:off x="0" y="0"/>
              <a:ext cx="20104100" cy="800100"/>
            </a:xfrm>
            <a:custGeom>
              <a:avLst/>
              <a:gdLst/>
              <a:ahLst/>
              <a:cxnLst/>
              <a:rect l="l" t="t" r="r" b="b"/>
              <a:pathLst>
                <a:path w="20104100" h="800100">
                  <a:moveTo>
                    <a:pt x="20104099" y="0"/>
                  </a:moveTo>
                  <a:lnTo>
                    <a:pt x="0" y="0"/>
                  </a:lnTo>
                  <a:lnTo>
                    <a:pt x="0" y="799912"/>
                  </a:lnTo>
                  <a:lnTo>
                    <a:pt x="20104099" y="799912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382A7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2" name="object 6">
            <a:extLst>
              <a:ext uri="{FF2B5EF4-FFF2-40B4-BE49-F238E27FC236}">
                <a16:creationId xmlns:a16="http://schemas.microsoft.com/office/drawing/2014/main" id="{7A891891-F29D-088B-EDCA-21891E560797}"/>
              </a:ext>
            </a:extLst>
          </p:cNvPr>
          <p:cNvSpPr txBox="1"/>
          <p:nvPr/>
        </p:nvSpPr>
        <p:spPr>
          <a:xfrm>
            <a:off x="305207" y="43670"/>
            <a:ext cx="7988400" cy="381861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lang="en-GB" sz="2426" dirty="0">
                <a:solidFill>
                  <a:schemeClr val="bg1"/>
                </a:solidFill>
                <a:latin typeface="Aptos" panose="020B0004020202020204" pitchFamily="34" charset="0"/>
                <a:cs typeface="VoltePlay-Medium"/>
              </a:rPr>
              <a:t>Addition of Goal</a:t>
            </a:r>
            <a:endParaRPr lang="en-IN" sz="2426" dirty="0">
              <a:solidFill>
                <a:schemeClr val="bg1"/>
              </a:solidFill>
              <a:latin typeface="Aptos" panose="020B0004020202020204" pitchFamily="34" charset="0"/>
              <a:cs typeface="VoltePlay-Medium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F9B319-1441-FCEF-BAEE-F37EB67F56EC}"/>
              </a:ext>
            </a:extLst>
          </p:cNvPr>
          <p:cNvCxnSpPr>
            <a:cxnSpLocks/>
          </p:cNvCxnSpPr>
          <p:nvPr/>
        </p:nvCxnSpPr>
        <p:spPr>
          <a:xfrm>
            <a:off x="8372844" y="2253429"/>
            <a:ext cx="652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648F8C-D2E5-5CC9-0DBE-4F1DC1BB5F51}"/>
              </a:ext>
            </a:extLst>
          </p:cNvPr>
          <p:cNvCxnSpPr>
            <a:cxnSpLocks/>
          </p:cNvCxnSpPr>
          <p:nvPr/>
        </p:nvCxnSpPr>
        <p:spPr>
          <a:xfrm>
            <a:off x="1155180" y="2659140"/>
            <a:ext cx="78699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791D86-F7E6-3D91-92C2-728873C86065}"/>
              </a:ext>
            </a:extLst>
          </p:cNvPr>
          <p:cNvCxnSpPr>
            <a:cxnSpLocks/>
          </p:cNvCxnSpPr>
          <p:nvPr/>
        </p:nvCxnSpPr>
        <p:spPr>
          <a:xfrm>
            <a:off x="8336939" y="3390583"/>
            <a:ext cx="688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D9681E5-80FA-345F-09ED-DB9C955BC936}"/>
              </a:ext>
            </a:extLst>
          </p:cNvPr>
          <p:cNvSpPr txBox="1"/>
          <p:nvPr/>
        </p:nvSpPr>
        <p:spPr>
          <a:xfrm>
            <a:off x="9025126" y="3238919"/>
            <a:ext cx="3028841" cy="276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IN" dirty="0"/>
              <a:t>Success criteria or Milestone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A078B7-A51F-781D-C188-827B39BAD376}"/>
              </a:ext>
            </a:extLst>
          </p:cNvPr>
          <p:cNvCxnSpPr>
            <a:cxnSpLocks/>
          </p:cNvCxnSpPr>
          <p:nvPr/>
        </p:nvCxnSpPr>
        <p:spPr>
          <a:xfrm>
            <a:off x="8336939" y="4299991"/>
            <a:ext cx="688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56A8DD9-DBEF-802B-1703-27BD0CEB4E2C}"/>
              </a:ext>
            </a:extLst>
          </p:cNvPr>
          <p:cNvSpPr txBox="1"/>
          <p:nvPr/>
        </p:nvSpPr>
        <p:spPr>
          <a:xfrm>
            <a:off x="9025125" y="4157663"/>
            <a:ext cx="3028841" cy="276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IN" dirty="0"/>
              <a:t>Goal Description</a:t>
            </a:r>
          </a:p>
        </p:txBody>
      </p:sp>
    </p:spTree>
    <p:extLst>
      <p:ext uri="{BB962C8B-B14F-4D97-AF65-F5344CB8AC3E}">
        <p14:creationId xmlns:p14="http://schemas.microsoft.com/office/powerpoint/2010/main" val="218183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24B5F7-D9FB-E3A6-237E-49E008154D30}"/>
              </a:ext>
            </a:extLst>
          </p:cNvPr>
          <p:cNvSpPr txBox="1"/>
          <p:nvPr/>
        </p:nvSpPr>
        <p:spPr>
          <a:xfrm>
            <a:off x="228600" y="750243"/>
            <a:ext cx="11625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 filling goal details click on ‘Add’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0A4C95-E881-D7B8-EC6E-41EDEAFF1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29303"/>
            <a:ext cx="11362031" cy="5280354"/>
          </a:xfrm>
          <a:prstGeom prst="rect">
            <a:avLst/>
          </a:prstGeom>
        </p:spPr>
      </p:pic>
      <p:grpSp>
        <p:nvGrpSpPr>
          <p:cNvPr id="2" name="object 2">
            <a:extLst>
              <a:ext uri="{FF2B5EF4-FFF2-40B4-BE49-F238E27FC236}">
                <a16:creationId xmlns:a16="http://schemas.microsoft.com/office/drawing/2014/main" id="{FCE1392D-0A32-5F67-0C36-F7438D9AAAB9}"/>
              </a:ext>
            </a:extLst>
          </p:cNvPr>
          <p:cNvGrpSpPr/>
          <p:nvPr/>
        </p:nvGrpSpPr>
        <p:grpSpPr>
          <a:xfrm>
            <a:off x="428" y="0"/>
            <a:ext cx="12191144" cy="485181"/>
            <a:chOff x="0" y="0"/>
            <a:chExt cx="20104100" cy="8001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6CD1A15-F515-D1F2-9DF2-E904FEE6EFD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10627" y="300734"/>
              <a:ext cx="790870" cy="198423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56F9300-D4E6-231E-CE0C-B895CD2B9EE4}"/>
                </a:ext>
              </a:extLst>
            </p:cNvPr>
            <p:cNvSpPr/>
            <p:nvPr/>
          </p:nvSpPr>
          <p:spPr>
            <a:xfrm>
              <a:off x="0" y="0"/>
              <a:ext cx="20104100" cy="800100"/>
            </a:xfrm>
            <a:custGeom>
              <a:avLst/>
              <a:gdLst/>
              <a:ahLst/>
              <a:cxnLst/>
              <a:rect l="l" t="t" r="r" b="b"/>
              <a:pathLst>
                <a:path w="20104100" h="800100">
                  <a:moveTo>
                    <a:pt x="20104099" y="0"/>
                  </a:moveTo>
                  <a:lnTo>
                    <a:pt x="0" y="0"/>
                  </a:lnTo>
                  <a:lnTo>
                    <a:pt x="0" y="799912"/>
                  </a:lnTo>
                  <a:lnTo>
                    <a:pt x="20104099" y="799912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382A7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DC91CFA-1BE9-D8B5-FFA3-32B9C220D6E6}"/>
              </a:ext>
            </a:extLst>
          </p:cNvPr>
          <p:cNvSpPr txBox="1"/>
          <p:nvPr/>
        </p:nvSpPr>
        <p:spPr>
          <a:xfrm>
            <a:off x="305207" y="43670"/>
            <a:ext cx="7988400" cy="381861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lang="en-GB" sz="2426" dirty="0">
                <a:solidFill>
                  <a:schemeClr val="bg1"/>
                </a:solidFill>
                <a:latin typeface="Aptos" panose="020B0004020202020204" pitchFamily="34" charset="0"/>
                <a:cs typeface="VoltePlay-Medium"/>
              </a:rPr>
              <a:t>Addition of Goal</a:t>
            </a:r>
            <a:endParaRPr lang="en-IN" sz="2426" dirty="0">
              <a:solidFill>
                <a:schemeClr val="bg1"/>
              </a:solidFill>
              <a:latin typeface="Aptos" panose="020B0004020202020204" pitchFamily="34" charset="0"/>
              <a:cs typeface="VoltePlay-Medium"/>
            </a:endParaRPr>
          </a:p>
        </p:txBody>
      </p:sp>
    </p:spTree>
    <p:extLst>
      <p:ext uri="{BB962C8B-B14F-4D97-AF65-F5344CB8AC3E}">
        <p14:creationId xmlns:p14="http://schemas.microsoft.com/office/powerpoint/2010/main" val="417944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C8EBD-4F9A-E20D-9A00-E91CD910502B}"/>
              </a:ext>
            </a:extLst>
          </p:cNvPr>
          <p:cNvSpPr txBox="1"/>
          <p:nvPr/>
        </p:nvSpPr>
        <p:spPr>
          <a:xfrm>
            <a:off x="201386" y="865632"/>
            <a:ext cx="1178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Repeat the previous steps for all the goals and make sure the weights adds up to 100%. If not below warning message will be shown. In the warning click on edit weights to balance the weights to 100%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C941A1-0E0B-0329-231A-0F6379E95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276" y="1726907"/>
            <a:ext cx="3387308" cy="467041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8F0F97E-67CD-340C-A0C8-06D7DB7BDDD8}"/>
              </a:ext>
            </a:extLst>
          </p:cNvPr>
          <p:cNvGrpSpPr/>
          <p:nvPr/>
        </p:nvGrpSpPr>
        <p:grpSpPr>
          <a:xfrm>
            <a:off x="375233" y="1641051"/>
            <a:ext cx="5104636" cy="4756266"/>
            <a:chOff x="512393" y="936963"/>
            <a:chExt cx="5104636" cy="475626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1F7A2E-8A88-13F5-DFE1-9F1F1EAA9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393" y="936963"/>
              <a:ext cx="5104636" cy="475626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C8F7ACA-7F73-8140-5FE9-E3432250FF60}"/>
                </a:ext>
              </a:extLst>
            </p:cNvPr>
            <p:cNvSpPr txBox="1"/>
            <p:nvPr/>
          </p:nvSpPr>
          <p:spPr>
            <a:xfrm>
              <a:off x="1883664" y="1883664"/>
              <a:ext cx="1335024" cy="1828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</p:grpSp>
      <p:grpSp>
        <p:nvGrpSpPr>
          <p:cNvPr id="4" name="object 2">
            <a:extLst>
              <a:ext uri="{FF2B5EF4-FFF2-40B4-BE49-F238E27FC236}">
                <a16:creationId xmlns:a16="http://schemas.microsoft.com/office/drawing/2014/main" id="{D7EBAD20-D205-DBFB-0183-8A8552FE1FF6}"/>
              </a:ext>
            </a:extLst>
          </p:cNvPr>
          <p:cNvGrpSpPr/>
          <p:nvPr/>
        </p:nvGrpSpPr>
        <p:grpSpPr>
          <a:xfrm>
            <a:off x="428" y="0"/>
            <a:ext cx="12191144" cy="485181"/>
            <a:chOff x="0" y="0"/>
            <a:chExt cx="20104100" cy="800100"/>
          </a:xfrm>
        </p:grpSpPr>
        <p:pic>
          <p:nvPicPr>
            <p:cNvPr id="6" name="object 3">
              <a:extLst>
                <a:ext uri="{FF2B5EF4-FFF2-40B4-BE49-F238E27FC236}">
                  <a16:creationId xmlns:a16="http://schemas.microsoft.com/office/drawing/2014/main" id="{54ED466D-5815-E87B-44D4-35875ABE349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10627" y="300734"/>
              <a:ext cx="790870" cy="198423"/>
            </a:xfrm>
            <a:prstGeom prst="rect">
              <a:avLst/>
            </a:prstGeom>
          </p:spPr>
        </p:pic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C28590CA-F906-17CA-60B2-2E6C28F45CAA}"/>
                </a:ext>
              </a:extLst>
            </p:cNvPr>
            <p:cNvSpPr/>
            <p:nvPr/>
          </p:nvSpPr>
          <p:spPr>
            <a:xfrm>
              <a:off x="0" y="0"/>
              <a:ext cx="20104100" cy="800100"/>
            </a:xfrm>
            <a:custGeom>
              <a:avLst/>
              <a:gdLst/>
              <a:ahLst/>
              <a:cxnLst/>
              <a:rect l="l" t="t" r="r" b="b"/>
              <a:pathLst>
                <a:path w="20104100" h="800100">
                  <a:moveTo>
                    <a:pt x="20104099" y="0"/>
                  </a:moveTo>
                  <a:lnTo>
                    <a:pt x="0" y="0"/>
                  </a:lnTo>
                  <a:lnTo>
                    <a:pt x="0" y="799912"/>
                  </a:lnTo>
                  <a:lnTo>
                    <a:pt x="20104099" y="799912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382A7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856E31F9-4A99-61B3-1D19-0E7B9FA1080E}"/>
              </a:ext>
            </a:extLst>
          </p:cNvPr>
          <p:cNvSpPr txBox="1"/>
          <p:nvPr/>
        </p:nvSpPr>
        <p:spPr>
          <a:xfrm>
            <a:off x="305207" y="43670"/>
            <a:ext cx="7988400" cy="381861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lang="en-GB" sz="2426" dirty="0">
                <a:solidFill>
                  <a:schemeClr val="bg1"/>
                </a:solidFill>
                <a:latin typeface="Aptos" panose="020B0004020202020204" pitchFamily="34" charset="0"/>
                <a:cs typeface="VoltePlay-Medium"/>
              </a:rPr>
              <a:t>Addition of Goal</a:t>
            </a:r>
            <a:endParaRPr lang="en-IN" sz="2426" dirty="0">
              <a:solidFill>
                <a:schemeClr val="bg1"/>
              </a:solidFill>
              <a:latin typeface="Aptos" panose="020B0004020202020204" pitchFamily="34" charset="0"/>
              <a:cs typeface="VoltePlay-Medium"/>
            </a:endParaRPr>
          </a:p>
        </p:txBody>
      </p:sp>
    </p:spTree>
    <p:extLst>
      <p:ext uri="{BB962C8B-B14F-4D97-AF65-F5344CB8AC3E}">
        <p14:creationId xmlns:p14="http://schemas.microsoft.com/office/powerpoint/2010/main" val="1223606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DA341D-8CB4-640B-1530-F8E4CB343D00}"/>
              </a:ext>
            </a:extLst>
          </p:cNvPr>
          <p:cNvSpPr txBox="1"/>
          <p:nvPr/>
        </p:nvSpPr>
        <p:spPr>
          <a:xfrm>
            <a:off x="715845" y="625206"/>
            <a:ext cx="11854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Once everything is done click on ‘Submit’ to submit the goals for approval.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EBC3B-DBA7-316F-D966-D6CCE9BDB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35" y="1134563"/>
            <a:ext cx="9474410" cy="47408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417D38-8EBF-55AA-CFA9-147304B1FD3F}"/>
              </a:ext>
            </a:extLst>
          </p:cNvPr>
          <p:cNvSpPr txBox="1"/>
          <p:nvPr/>
        </p:nvSpPr>
        <p:spPr>
          <a:xfrm>
            <a:off x="2844316" y="2507314"/>
            <a:ext cx="1250970" cy="1627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4F7A4791-37ED-13C3-4A07-628B8F190CD2}"/>
              </a:ext>
            </a:extLst>
          </p:cNvPr>
          <p:cNvGrpSpPr/>
          <p:nvPr/>
        </p:nvGrpSpPr>
        <p:grpSpPr>
          <a:xfrm>
            <a:off x="428" y="0"/>
            <a:ext cx="12191144" cy="485181"/>
            <a:chOff x="0" y="0"/>
            <a:chExt cx="20104100" cy="800100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79DC09CC-78B2-CBC2-2C48-692780C58E1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10627" y="300734"/>
              <a:ext cx="790870" cy="198423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461B24BB-1017-D5B0-A401-220E2A60F830}"/>
                </a:ext>
              </a:extLst>
            </p:cNvPr>
            <p:cNvSpPr/>
            <p:nvPr/>
          </p:nvSpPr>
          <p:spPr>
            <a:xfrm>
              <a:off x="0" y="0"/>
              <a:ext cx="20104100" cy="800100"/>
            </a:xfrm>
            <a:custGeom>
              <a:avLst/>
              <a:gdLst/>
              <a:ahLst/>
              <a:cxnLst/>
              <a:rect l="l" t="t" r="r" b="b"/>
              <a:pathLst>
                <a:path w="20104100" h="800100">
                  <a:moveTo>
                    <a:pt x="20104099" y="0"/>
                  </a:moveTo>
                  <a:lnTo>
                    <a:pt x="0" y="0"/>
                  </a:lnTo>
                  <a:lnTo>
                    <a:pt x="0" y="799912"/>
                  </a:lnTo>
                  <a:lnTo>
                    <a:pt x="20104099" y="799912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382A7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8" name="object 6">
            <a:extLst>
              <a:ext uri="{FF2B5EF4-FFF2-40B4-BE49-F238E27FC236}">
                <a16:creationId xmlns:a16="http://schemas.microsoft.com/office/drawing/2014/main" id="{74080D9C-D453-17C0-759A-1BB518633930}"/>
              </a:ext>
            </a:extLst>
          </p:cNvPr>
          <p:cNvSpPr txBox="1"/>
          <p:nvPr/>
        </p:nvSpPr>
        <p:spPr>
          <a:xfrm>
            <a:off x="715845" y="68973"/>
            <a:ext cx="7988400" cy="347108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lang="en-GB" sz="2200" b="1" dirty="0">
                <a:solidFill>
                  <a:schemeClr val="bg1"/>
                </a:solidFill>
                <a:latin typeface="Aptos" panose="020B0004020202020204" pitchFamily="34" charset="0"/>
                <a:cs typeface="VoltePlay-Medium"/>
              </a:rPr>
              <a:t>Submission of Goals </a:t>
            </a:r>
            <a:endParaRPr lang="en-IN" sz="2200" b="1" dirty="0">
              <a:solidFill>
                <a:schemeClr val="bg1"/>
              </a:solidFill>
              <a:latin typeface="Aptos" panose="020B0004020202020204" pitchFamily="34" charset="0"/>
              <a:cs typeface="VoltePlay-Medium"/>
            </a:endParaRPr>
          </a:p>
        </p:txBody>
      </p:sp>
    </p:spTree>
    <p:extLst>
      <p:ext uri="{BB962C8B-B14F-4D97-AF65-F5344CB8AC3E}">
        <p14:creationId xmlns:p14="http://schemas.microsoft.com/office/powerpoint/2010/main" val="1645823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114" name="Picture 2" descr="14H0049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58115" name="Freeform 3"/>
          <p:cNvSpPr>
            <a:spLocks/>
          </p:cNvSpPr>
          <p:nvPr/>
        </p:nvSpPr>
        <p:spPr bwMode="auto">
          <a:xfrm>
            <a:off x="1242557" y="3581403"/>
            <a:ext cx="7017588" cy="1246188"/>
          </a:xfrm>
          <a:custGeom>
            <a:avLst/>
            <a:gdLst/>
            <a:ahLst/>
            <a:cxnLst>
              <a:cxn ang="0">
                <a:pos x="4888" y="0"/>
              </a:cxn>
              <a:cxn ang="0">
                <a:pos x="0" y="1"/>
              </a:cxn>
              <a:cxn ang="0">
                <a:pos x="0" y="865"/>
              </a:cxn>
              <a:cxn ang="0">
                <a:pos x="4718" y="865"/>
              </a:cxn>
              <a:cxn ang="0">
                <a:pos x="4888" y="0"/>
              </a:cxn>
            </a:cxnLst>
            <a:rect l="0" t="0" r="r" b="b"/>
            <a:pathLst>
              <a:path w="4888" h="865">
                <a:moveTo>
                  <a:pt x="4888" y="0"/>
                </a:moveTo>
                <a:lnTo>
                  <a:pt x="0" y="1"/>
                </a:lnTo>
                <a:lnTo>
                  <a:pt x="0" y="865"/>
                </a:lnTo>
                <a:lnTo>
                  <a:pt x="4718" y="865"/>
                </a:lnTo>
                <a:lnTo>
                  <a:pt x="4888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lIns="90113" tIns="45057" rIns="90113" bIns="45057"/>
          <a:lstStyle/>
          <a:p>
            <a:pPr defTabSz="826061"/>
            <a:endParaRPr lang="en-US" sz="1265" dirty="0"/>
          </a:p>
        </p:txBody>
      </p:sp>
      <p:sp>
        <p:nvSpPr>
          <p:cNvPr id="858116" name="Text Box 4"/>
          <p:cNvSpPr txBox="1">
            <a:spLocks noChangeArrowheads="1"/>
          </p:cNvSpPr>
          <p:nvPr/>
        </p:nvSpPr>
        <p:spPr bwMode="auto">
          <a:xfrm>
            <a:off x="1691807" y="3997327"/>
            <a:ext cx="4418136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772" tIns="41385" rIns="82772" bIns="41385">
            <a:spAutoFit/>
          </a:bodyPr>
          <a:lstStyle/>
          <a:p>
            <a:pPr defTabSz="943391">
              <a:spcBef>
                <a:spcPct val="50000"/>
              </a:spcBef>
            </a:pPr>
            <a:r>
              <a:rPr lang="en-US" sz="2892" b="1" i="1" dirty="0">
                <a:solidFill>
                  <a:schemeClr val="bg2"/>
                </a:solidFill>
                <a:latin typeface="EYInterstate Light" panose="02000506000000020004" pitchFamily="2" charset="0"/>
              </a:rPr>
              <a:t>Manager Approval</a:t>
            </a:r>
            <a:endParaRPr lang="en-US" sz="2892" i="1" dirty="0">
              <a:solidFill>
                <a:schemeClr val="bg2"/>
              </a:solidFill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91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1ACA-D52B-A76A-A7CA-98077376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D22D5E-A278-F1C7-113A-7B4ADDA3CE66}"/>
              </a:ext>
            </a:extLst>
          </p:cNvPr>
          <p:cNvSpPr txBox="1"/>
          <p:nvPr/>
        </p:nvSpPr>
        <p:spPr>
          <a:xfrm>
            <a:off x="58565" y="696641"/>
            <a:ext cx="117783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/>
              <a:t>Once the Employee has submitted his/her goals for approval a notification will trigger to line manager to approve the same.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08227-EAAB-507E-3AAB-26227D6B88E8}"/>
              </a:ext>
            </a:extLst>
          </p:cNvPr>
          <p:cNvSpPr txBox="1"/>
          <p:nvPr/>
        </p:nvSpPr>
        <p:spPr>
          <a:xfrm>
            <a:off x="205523" y="1040716"/>
            <a:ext cx="11484428" cy="1667082"/>
          </a:xfrm>
          <a:prstGeom prst="rect">
            <a:avLst/>
          </a:prstGeom>
          <a:noFill/>
        </p:spPr>
        <p:txBody>
          <a:bodyPr wrap="square" lIns="0" tIns="24787" rIns="0" bIns="0" rtlCol="0">
            <a:spAutoFit/>
          </a:bodyPr>
          <a:lstStyle/>
          <a:p>
            <a:pPr marL="285750" indent="-28575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itchFamily="34" charset="0"/>
              <a:buChar char="►"/>
            </a:pPr>
            <a:r>
              <a:rPr lang="en-US" sz="1600" dirty="0">
                <a:latin typeface="EYInterstate Light" panose="02000506000000020004" pitchFamily="2" charset="0"/>
              </a:rPr>
              <a:t>T</a:t>
            </a:r>
            <a:r>
              <a:rPr lang="en-IN" sz="1600" dirty="0">
                <a:latin typeface="EYInterstate Light" panose="02000506000000020004" pitchFamily="2" charset="0"/>
              </a:rPr>
              <a:t>here are three ways to approve goals,</a:t>
            </a:r>
          </a:p>
          <a:p>
            <a:pPr lvl="1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1600" dirty="0">
                <a:latin typeface="EYInterstate Light" panose="02000506000000020004" pitchFamily="2" charset="0"/>
              </a:rPr>
              <a:t>1. A</a:t>
            </a:r>
            <a:r>
              <a:rPr lang="en-IN" sz="1600" dirty="0">
                <a:latin typeface="EYInterstate Light" panose="02000506000000020004" pitchFamily="2" charset="0"/>
              </a:rPr>
              <a:t>pproving directly from the notification, as shown below.</a:t>
            </a:r>
          </a:p>
          <a:p>
            <a:pPr lvl="1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1600" dirty="0">
                <a:latin typeface="EYInterstate Light" panose="02000506000000020004" pitchFamily="2" charset="0"/>
              </a:rPr>
              <a:t>2. B</a:t>
            </a:r>
            <a:r>
              <a:rPr lang="en-IN" sz="1600" dirty="0">
                <a:latin typeface="EYInterstate Light" panose="02000506000000020004" pitchFamily="2" charset="0"/>
              </a:rPr>
              <a:t>y opening the Notification and then approving the same.</a:t>
            </a:r>
          </a:p>
          <a:p>
            <a:pPr lvl="1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1600" dirty="0">
                <a:latin typeface="EYInterstate Light" panose="02000506000000020004" pitchFamily="2" charset="0"/>
              </a:rPr>
              <a:t>3. Approving from ‘Team Goals Center’</a:t>
            </a:r>
          </a:p>
          <a:p>
            <a:pPr lvl="1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1600" dirty="0">
                <a:latin typeface="EYInterstate Light" panose="02000506000000020004" pitchFamily="2" charset="0"/>
              </a:rPr>
              <a:t>Manager selects employee → views details → clicks “Approve” → “Submit”.</a:t>
            </a:r>
          </a:p>
          <a:p>
            <a:pPr lvl="1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endParaRPr lang="en-IN" sz="1400" dirty="0">
              <a:latin typeface="EYInterstate Light" panose="0200050600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06E506-96FD-AFB4-FAEA-8772351CE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9" y="2645340"/>
            <a:ext cx="3740767" cy="2892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0E9F8B-C377-C064-2773-ABD229FB5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645340"/>
            <a:ext cx="3951950" cy="2959065"/>
          </a:xfrm>
          <a:prstGeom prst="rect">
            <a:avLst/>
          </a:prstGeom>
        </p:spPr>
      </p:pic>
      <p:grpSp>
        <p:nvGrpSpPr>
          <p:cNvPr id="2" name="object 2">
            <a:extLst>
              <a:ext uri="{FF2B5EF4-FFF2-40B4-BE49-F238E27FC236}">
                <a16:creationId xmlns:a16="http://schemas.microsoft.com/office/drawing/2014/main" id="{D2A68F05-5FA6-8280-D35A-DBF4AEE96561}"/>
              </a:ext>
            </a:extLst>
          </p:cNvPr>
          <p:cNvGrpSpPr/>
          <p:nvPr/>
        </p:nvGrpSpPr>
        <p:grpSpPr>
          <a:xfrm>
            <a:off x="856" y="3094"/>
            <a:ext cx="12191144" cy="485181"/>
            <a:chOff x="0" y="0"/>
            <a:chExt cx="20104100" cy="8001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CA551B7-55F2-9B03-D90B-466BC5D37AC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10627" y="300734"/>
              <a:ext cx="790870" cy="198423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1BE598A-5323-E913-0DAC-40406DA3A9FA}"/>
                </a:ext>
              </a:extLst>
            </p:cNvPr>
            <p:cNvSpPr/>
            <p:nvPr/>
          </p:nvSpPr>
          <p:spPr>
            <a:xfrm>
              <a:off x="0" y="0"/>
              <a:ext cx="20104100" cy="800100"/>
            </a:xfrm>
            <a:custGeom>
              <a:avLst/>
              <a:gdLst/>
              <a:ahLst/>
              <a:cxnLst/>
              <a:rect l="l" t="t" r="r" b="b"/>
              <a:pathLst>
                <a:path w="20104100" h="800100">
                  <a:moveTo>
                    <a:pt x="20104099" y="0"/>
                  </a:moveTo>
                  <a:lnTo>
                    <a:pt x="0" y="0"/>
                  </a:lnTo>
                  <a:lnTo>
                    <a:pt x="0" y="799912"/>
                  </a:lnTo>
                  <a:lnTo>
                    <a:pt x="20104099" y="799912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382A7E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98ABB02D-8CBD-EB45-4BBA-1471A2D7A850}"/>
              </a:ext>
            </a:extLst>
          </p:cNvPr>
          <p:cNvSpPr txBox="1"/>
          <p:nvPr/>
        </p:nvSpPr>
        <p:spPr>
          <a:xfrm>
            <a:off x="211618" y="51435"/>
            <a:ext cx="7988400" cy="347108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lang="en-GB" sz="2200" b="1" dirty="0">
                <a:solidFill>
                  <a:schemeClr val="bg1"/>
                </a:solidFill>
                <a:latin typeface="Aptos" panose="020B0004020202020204" pitchFamily="34" charset="0"/>
                <a:cs typeface="VoltePlay-Medium"/>
              </a:rPr>
              <a:t>Manager Approval – Process Workflow </a:t>
            </a:r>
            <a:endParaRPr lang="en-IN" sz="2200" b="1" dirty="0">
              <a:solidFill>
                <a:schemeClr val="bg1"/>
              </a:solidFill>
              <a:latin typeface="Aptos" panose="020B0004020202020204" pitchFamily="34" charset="0"/>
              <a:cs typeface="VoltePlay-Medium"/>
            </a:endParaRPr>
          </a:p>
        </p:txBody>
      </p:sp>
    </p:spTree>
    <p:extLst>
      <p:ext uri="{BB962C8B-B14F-4D97-AF65-F5344CB8AC3E}">
        <p14:creationId xmlns:p14="http://schemas.microsoft.com/office/powerpoint/2010/main" val="2899144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6E63DF-477F-AC7E-0E97-4C9A3A4F6F2C}"/>
              </a:ext>
            </a:extLst>
          </p:cNvPr>
          <p:cNvSpPr txBox="1"/>
          <p:nvPr/>
        </p:nvSpPr>
        <p:spPr>
          <a:xfrm>
            <a:off x="174171" y="108857"/>
            <a:ext cx="11789229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EYInterstate Light" panose="02000506000000020004"/>
              </a:rPr>
              <a:t>Approving from ‘Team Goals </a:t>
            </a:r>
            <a:r>
              <a:rPr lang="en-IN" dirty="0" err="1">
                <a:latin typeface="EYInterstate Light" panose="02000506000000020004"/>
              </a:rPr>
              <a:t>Center</a:t>
            </a:r>
            <a:r>
              <a:rPr lang="en-IN" dirty="0">
                <a:latin typeface="EYInterstate Light" panose="02000506000000020004"/>
              </a:rPr>
              <a:t>’. Click on My Team &gt; Team Goals </a:t>
            </a:r>
            <a:r>
              <a:rPr lang="en-IN" dirty="0" err="1">
                <a:latin typeface="EYInterstate Light" panose="02000506000000020004"/>
              </a:rPr>
              <a:t>Center</a:t>
            </a:r>
            <a:endParaRPr lang="en-IN" dirty="0">
              <a:latin typeface="EYInterstate Light" panose="020005060000000200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EA696-12C0-975A-B33E-2B033F906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8" y="761999"/>
            <a:ext cx="10984694" cy="505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0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0A28BF-31CD-9CE9-219F-15D9E322F44D}"/>
              </a:ext>
            </a:extLst>
          </p:cNvPr>
          <p:cNvSpPr txBox="1"/>
          <p:nvPr/>
        </p:nvSpPr>
        <p:spPr>
          <a:xfrm>
            <a:off x="283029" y="293914"/>
            <a:ext cx="11713028" cy="37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Click on the Employee name for whom manager approval is pending.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397EDE-1F23-EBAC-E1C4-8454679AD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9" y="892044"/>
            <a:ext cx="11570295" cy="50739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7D0D6B-9F10-5911-A985-4C2065E64734}"/>
              </a:ext>
            </a:extLst>
          </p:cNvPr>
          <p:cNvSpPr/>
          <p:nvPr/>
        </p:nvSpPr>
        <p:spPr>
          <a:xfrm>
            <a:off x="1981200" y="4796136"/>
            <a:ext cx="1393371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Employee Name</a:t>
            </a:r>
          </a:p>
        </p:txBody>
      </p:sp>
    </p:spTree>
    <p:extLst>
      <p:ext uri="{BB962C8B-B14F-4D97-AF65-F5344CB8AC3E}">
        <p14:creationId xmlns:p14="http://schemas.microsoft.com/office/powerpoint/2010/main" val="378846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D6B3F2-A0A5-B6FE-27E6-94D134C10C85}"/>
              </a:ext>
            </a:extLst>
          </p:cNvPr>
          <p:cNvSpPr txBox="1"/>
          <p:nvPr/>
        </p:nvSpPr>
        <p:spPr>
          <a:xfrm>
            <a:off x="141514" y="163286"/>
            <a:ext cx="1178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EYInterstate Light" panose="02000506000000020004"/>
              </a:rPr>
              <a:t>Click on ‘See details.’ on the Pending Approval section. Then click on ‘Approve’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4D6497-8077-CBB5-064B-B41273132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" y="634856"/>
            <a:ext cx="5954486" cy="5588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F66AD2-3247-A43A-F7B2-4D8BFE9D4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34856"/>
            <a:ext cx="5617272" cy="558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758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6631E5-6322-A39E-2C29-9E45ED6554D8}"/>
              </a:ext>
            </a:extLst>
          </p:cNvPr>
          <p:cNvSpPr txBox="1"/>
          <p:nvPr/>
        </p:nvSpPr>
        <p:spPr>
          <a:xfrm>
            <a:off x="195943" y="228600"/>
            <a:ext cx="1173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Click on ‘Submit’.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68588A-A476-2B63-460F-F73E154C8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24" y="777737"/>
            <a:ext cx="930251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72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114" name="Picture 2" descr="14H0049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58115" name="Freeform 3"/>
          <p:cNvSpPr>
            <a:spLocks/>
          </p:cNvSpPr>
          <p:nvPr/>
        </p:nvSpPr>
        <p:spPr bwMode="auto">
          <a:xfrm>
            <a:off x="1242557" y="3581403"/>
            <a:ext cx="7017588" cy="1246188"/>
          </a:xfrm>
          <a:custGeom>
            <a:avLst/>
            <a:gdLst/>
            <a:ahLst/>
            <a:cxnLst>
              <a:cxn ang="0">
                <a:pos x="4888" y="0"/>
              </a:cxn>
              <a:cxn ang="0">
                <a:pos x="0" y="1"/>
              </a:cxn>
              <a:cxn ang="0">
                <a:pos x="0" y="865"/>
              </a:cxn>
              <a:cxn ang="0">
                <a:pos x="4718" y="865"/>
              </a:cxn>
              <a:cxn ang="0">
                <a:pos x="4888" y="0"/>
              </a:cxn>
            </a:cxnLst>
            <a:rect l="0" t="0" r="r" b="b"/>
            <a:pathLst>
              <a:path w="4888" h="865">
                <a:moveTo>
                  <a:pt x="4888" y="0"/>
                </a:moveTo>
                <a:lnTo>
                  <a:pt x="0" y="1"/>
                </a:lnTo>
                <a:lnTo>
                  <a:pt x="0" y="865"/>
                </a:lnTo>
                <a:lnTo>
                  <a:pt x="4718" y="865"/>
                </a:lnTo>
                <a:lnTo>
                  <a:pt x="4888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lIns="90113" tIns="45057" rIns="90113" bIns="45057"/>
          <a:lstStyle/>
          <a:p>
            <a:pPr defTabSz="826061"/>
            <a:endParaRPr lang="en-US" sz="1265" dirty="0"/>
          </a:p>
        </p:txBody>
      </p:sp>
      <p:sp>
        <p:nvSpPr>
          <p:cNvPr id="858116" name="Text Box 4"/>
          <p:cNvSpPr txBox="1">
            <a:spLocks noChangeArrowheads="1"/>
          </p:cNvSpPr>
          <p:nvPr/>
        </p:nvSpPr>
        <p:spPr bwMode="auto">
          <a:xfrm>
            <a:off x="1691807" y="3997327"/>
            <a:ext cx="4418136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772" tIns="41385" rIns="82772" bIns="41385">
            <a:spAutoFit/>
          </a:bodyPr>
          <a:lstStyle/>
          <a:p>
            <a:pPr defTabSz="943391">
              <a:spcBef>
                <a:spcPct val="50000"/>
              </a:spcBef>
            </a:pPr>
            <a:r>
              <a:rPr lang="en-US" sz="2892" b="1" i="1" dirty="0">
                <a:solidFill>
                  <a:schemeClr val="bg2"/>
                </a:solidFill>
                <a:latin typeface="EYInterstate Light" panose="02000506000000020004" pitchFamily="2" charset="0"/>
              </a:rPr>
              <a:t>Reviewer Approval</a:t>
            </a:r>
            <a:endParaRPr lang="en-US" sz="2892" i="1" dirty="0">
              <a:solidFill>
                <a:schemeClr val="bg2"/>
              </a:solidFill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643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C4A8B6-5827-9ACD-83F6-171C14DA9B3D}"/>
              </a:ext>
            </a:extLst>
          </p:cNvPr>
          <p:cNvSpPr txBox="1"/>
          <p:nvPr/>
        </p:nvSpPr>
        <p:spPr>
          <a:xfrm>
            <a:off x="163286" y="152400"/>
            <a:ext cx="11723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EYInterstate Light" panose="02000506000000020004"/>
              </a:rPr>
              <a:t>Once the Line Manager has approved the Goals then it will go for Reviewer’s approval.</a:t>
            </a:r>
          </a:p>
          <a:p>
            <a:r>
              <a:rPr lang="en-IN" dirty="0">
                <a:latin typeface="EYInterstate Light" panose="02000506000000020004"/>
              </a:rPr>
              <a:t>Reviewer can Approve the Goals by opening the approval notification as below.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AB6A3E-3945-7CC9-4FD5-6AC6CD7E3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3" y="1049023"/>
            <a:ext cx="5505608" cy="4241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990632-AAB2-FCD6-1FDA-36BCF0EDA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8" y="957942"/>
            <a:ext cx="5962809" cy="491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85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64BC-713E-F0C5-FDB9-FCC3395F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114" name="Picture 2" descr="14H00493">
            <a:extLst>
              <a:ext uri="{FF2B5EF4-FFF2-40B4-BE49-F238E27FC236}">
                <a16:creationId xmlns:a16="http://schemas.microsoft.com/office/drawing/2014/main" id="{8175F6E1-928B-4C41-8F20-9849F1BC2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58115" name="Freeform 3">
            <a:extLst>
              <a:ext uri="{FF2B5EF4-FFF2-40B4-BE49-F238E27FC236}">
                <a16:creationId xmlns:a16="http://schemas.microsoft.com/office/drawing/2014/main" id="{8C2C25C6-EAAD-B1E5-D8A5-C27B715E8346}"/>
              </a:ext>
            </a:extLst>
          </p:cNvPr>
          <p:cNvSpPr>
            <a:spLocks/>
          </p:cNvSpPr>
          <p:nvPr/>
        </p:nvSpPr>
        <p:spPr bwMode="auto">
          <a:xfrm>
            <a:off x="1242557" y="3581403"/>
            <a:ext cx="7017588" cy="1246188"/>
          </a:xfrm>
          <a:custGeom>
            <a:avLst/>
            <a:gdLst/>
            <a:ahLst/>
            <a:cxnLst>
              <a:cxn ang="0">
                <a:pos x="4888" y="0"/>
              </a:cxn>
              <a:cxn ang="0">
                <a:pos x="0" y="1"/>
              </a:cxn>
              <a:cxn ang="0">
                <a:pos x="0" y="865"/>
              </a:cxn>
              <a:cxn ang="0">
                <a:pos x="4718" y="865"/>
              </a:cxn>
              <a:cxn ang="0">
                <a:pos x="4888" y="0"/>
              </a:cxn>
            </a:cxnLst>
            <a:rect l="0" t="0" r="r" b="b"/>
            <a:pathLst>
              <a:path w="4888" h="865">
                <a:moveTo>
                  <a:pt x="4888" y="0"/>
                </a:moveTo>
                <a:lnTo>
                  <a:pt x="0" y="1"/>
                </a:lnTo>
                <a:lnTo>
                  <a:pt x="0" y="865"/>
                </a:lnTo>
                <a:lnTo>
                  <a:pt x="4718" y="865"/>
                </a:lnTo>
                <a:lnTo>
                  <a:pt x="4888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lIns="90113" tIns="45057" rIns="90113" bIns="45057"/>
          <a:lstStyle/>
          <a:p>
            <a:pPr defTabSz="826061"/>
            <a:endParaRPr lang="en-US" sz="1265" dirty="0"/>
          </a:p>
        </p:txBody>
      </p:sp>
      <p:sp>
        <p:nvSpPr>
          <p:cNvPr id="858116" name="Text Box 4">
            <a:extLst>
              <a:ext uri="{FF2B5EF4-FFF2-40B4-BE49-F238E27FC236}">
                <a16:creationId xmlns:a16="http://schemas.microsoft.com/office/drawing/2014/main" id="{907984A8-0EC3-9458-B440-59EC1897C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697" y="3717650"/>
            <a:ext cx="6679307" cy="973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772" tIns="41385" rIns="82772" bIns="41385">
            <a:spAutoFit/>
          </a:bodyPr>
          <a:lstStyle/>
          <a:p>
            <a:pPr defTabSz="943391">
              <a:spcBef>
                <a:spcPct val="50000"/>
              </a:spcBef>
            </a:pPr>
            <a:r>
              <a:rPr lang="en-US" sz="2892" b="1" i="1" dirty="0">
                <a:solidFill>
                  <a:schemeClr val="bg2"/>
                </a:solidFill>
                <a:latin typeface="EYInterstate Light" panose="02000506000000020004" pitchFamily="2" charset="0"/>
              </a:rPr>
              <a:t>Other Activities done by Employee On ‘Goal Center’ throughout the FY</a:t>
            </a:r>
            <a:endParaRPr lang="en-US" sz="2892" i="1" dirty="0">
              <a:solidFill>
                <a:schemeClr val="bg2"/>
              </a:solidFill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541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F74395-E751-F7B4-1673-A8FB6EDB4F73}"/>
              </a:ext>
            </a:extLst>
          </p:cNvPr>
          <p:cNvSpPr txBox="1"/>
          <p:nvPr/>
        </p:nvSpPr>
        <p:spPr>
          <a:xfrm>
            <a:off x="163286" y="195943"/>
            <a:ext cx="117456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EYInterstate Light"/>
              </a:rPr>
              <a:t>Me &gt; Career and Performance &gt; Goal </a:t>
            </a:r>
            <a:r>
              <a:rPr lang="en-IN" dirty="0" err="1">
                <a:latin typeface="EYInterstate Light"/>
              </a:rPr>
              <a:t>Center</a:t>
            </a:r>
            <a:endParaRPr lang="en-IN" dirty="0">
              <a:latin typeface="EYInterstate Light"/>
            </a:endParaRPr>
          </a:p>
          <a:p>
            <a:r>
              <a:rPr lang="en-IN" dirty="0">
                <a:latin typeface="EYInterstate Light"/>
              </a:rPr>
              <a:t>Various Actions Employee can perform on a performance goals as below.</a:t>
            </a:r>
          </a:p>
          <a:p>
            <a:r>
              <a:rPr lang="en-IN" dirty="0">
                <a:latin typeface="EYInterstate Light"/>
              </a:rPr>
              <a:t>2. Copy – Copy the goal to another review period and goal plan</a:t>
            </a:r>
          </a:p>
          <a:p>
            <a:r>
              <a:rPr lang="en-IN" dirty="0">
                <a:latin typeface="EYInterstate Light"/>
              </a:rPr>
              <a:t>3. Move – Move the goal to another review period and goal plan</a:t>
            </a:r>
          </a:p>
          <a:p>
            <a:r>
              <a:rPr lang="en-IN" dirty="0">
                <a:latin typeface="EYInterstate Light"/>
              </a:rPr>
              <a:t>4. Extend – Extend in-progress goals to next review period and goal plan</a:t>
            </a:r>
          </a:p>
          <a:p>
            <a:r>
              <a:rPr lang="en-IN" dirty="0">
                <a:latin typeface="EYInterstate Light"/>
              </a:rPr>
              <a:t>5. Delete – Delete the Performance Goal</a:t>
            </a:r>
          </a:p>
          <a:p>
            <a:r>
              <a:rPr lang="en-IN" dirty="0">
                <a:latin typeface="EYInterstate Light"/>
              </a:rPr>
              <a:t>6. Cancel – Cancel the Performance Goal</a:t>
            </a:r>
          </a:p>
          <a:p>
            <a:r>
              <a:rPr lang="en-IN" dirty="0">
                <a:latin typeface="EYInterstate Light"/>
              </a:rPr>
              <a:t>Click on the three dot right next to a Performance Goal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E9313B-0BD8-C5F6-292A-3DB0194F4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9" y="2781266"/>
            <a:ext cx="11347728" cy="335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500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E0440-1CFA-830E-7C7D-60F08C77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141" y="68222"/>
            <a:ext cx="11228799" cy="589519"/>
          </a:xfrm>
        </p:spPr>
        <p:txBody>
          <a:bodyPr>
            <a:normAutofit/>
          </a:bodyPr>
          <a:lstStyle/>
          <a:p>
            <a:r>
              <a:rPr lang="en-IN" sz="2400" dirty="0"/>
              <a:t>Edit a Performance Goal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54830-05FA-B0EC-0270-028D182BBA68}"/>
              </a:ext>
            </a:extLst>
          </p:cNvPr>
          <p:cNvSpPr txBox="1"/>
          <p:nvPr/>
        </p:nvSpPr>
        <p:spPr>
          <a:xfrm>
            <a:off x="378883" y="729343"/>
            <a:ext cx="1154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 &gt; Career and Performance &gt; Goal </a:t>
            </a:r>
            <a:r>
              <a:rPr lang="en-IN" dirty="0" err="1"/>
              <a:t>Center</a:t>
            </a:r>
            <a:r>
              <a:rPr lang="en-IN" dirty="0"/>
              <a:t> &gt; Click on the Goal &gt; Edit Goal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850EAE-62BB-79B3-A026-54A42BB4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5" y="1092848"/>
            <a:ext cx="10515858" cy="503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56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8DA37B-3F33-6DCA-4D3E-8ABAD63A5DFB}"/>
              </a:ext>
            </a:extLst>
          </p:cNvPr>
          <p:cNvSpPr txBox="1"/>
          <p:nvPr/>
        </p:nvSpPr>
        <p:spPr>
          <a:xfrm>
            <a:off x="185057" y="206829"/>
            <a:ext cx="1163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Make Edits to Goal Details and Click ‘Update’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6C485A-E595-B896-B901-E8A4612D3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02" y="957943"/>
            <a:ext cx="11582995" cy="524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00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988F-323B-41D7-AB41-F9CD47FA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40" y="107166"/>
            <a:ext cx="11228799" cy="589519"/>
          </a:xfrm>
        </p:spPr>
        <p:txBody>
          <a:bodyPr>
            <a:normAutofit/>
          </a:bodyPr>
          <a:lstStyle/>
          <a:p>
            <a:r>
              <a:rPr lang="en-IN" sz="2000" dirty="0"/>
              <a:t>Update Goal Progress and Add Progress Notes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61B3E-3264-FCF8-8D56-B287752C0527}"/>
              </a:ext>
            </a:extLst>
          </p:cNvPr>
          <p:cNvSpPr txBox="1"/>
          <p:nvPr/>
        </p:nvSpPr>
        <p:spPr>
          <a:xfrm>
            <a:off x="337456" y="544675"/>
            <a:ext cx="11473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 &gt; Career and Performance &gt; Goal </a:t>
            </a:r>
            <a:r>
              <a:rPr lang="en-IN" dirty="0" err="1"/>
              <a:t>Center</a:t>
            </a:r>
            <a:r>
              <a:rPr lang="en-IN" dirty="0"/>
              <a:t> &gt; Click on the Goal Name</a:t>
            </a:r>
          </a:p>
          <a:p>
            <a:r>
              <a:rPr lang="en-IN" dirty="0"/>
              <a:t>1. Update Goal Progress in the slider to make the goal status In-Progress</a:t>
            </a:r>
          </a:p>
          <a:p>
            <a:r>
              <a:rPr lang="en-IN" dirty="0"/>
              <a:t>2. Add Progress Notes in the text box and click on ‘Update’</a:t>
            </a:r>
          </a:p>
          <a:p>
            <a:r>
              <a:rPr lang="en-IN" dirty="0"/>
              <a:t>3. To Edit/Delete progress note click the three-dot next to a note and click Edit/Delete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A155B3-5AC5-7C14-44BC-D8C909930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6" y="1872343"/>
            <a:ext cx="7500258" cy="4310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91C00C-2188-D967-5F31-3A78CF2B3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351" y="1872343"/>
            <a:ext cx="3854648" cy="431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71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8F3546-F6A8-A872-626C-0FDF59C41636}"/>
              </a:ext>
            </a:extLst>
          </p:cNvPr>
          <p:cNvSpPr txBox="1"/>
          <p:nvPr/>
        </p:nvSpPr>
        <p:spPr>
          <a:xfrm>
            <a:off x="185057" y="239486"/>
            <a:ext cx="11615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 all the necessary updated are done click on ‘Submit’ to send for approval.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B7468B-C73C-9E07-5408-E4DD40362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11" y="865630"/>
            <a:ext cx="11115032" cy="475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57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795</Words>
  <Application>Microsoft Office PowerPoint</Application>
  <PresentationFormat>Widescreen</PresentationFormat>
  <Paragraphs>77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Aptos Display</vt:lpstr>
      <vt:lpstr>Arial</vt:lpstr>
      <vt:lpstr>Courier New</vt:lpstr>
      <vt:lpstr>EYInterstate Light</vt:lpstr>
      <vt:lpstr>Sky Text</vt:lpstr>
      <vt:lpstr>Symbol</vt:lpstr>
      <vt:lpstr>Tahoma</vt:lpstr>
      <vt:lpstr>Office Theme</vt:lpstr>
      <vt:lpstr>Navigation Deck for Performance Goal Setting Process in Goal Center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Edit a Performance Goal</vt:lpstr>
      <vt:lpstr>PowerPoint Presentation</vt:lpstr>
      <vt:lpstr>Update Goal Progress and Add Progress Notes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Debashish Mohapatra</dc:creator>
  <cp:lastModifiedBy>Shayanta Chaudhuri/HR/MUM CORP/MH</cp:lastModifiedBy>
  <cp:revision>37</cp:revision>
  <dcterms:created xsi:type="dcterms:W3CDTF">2024-11-21T10:51:47Z</dcterms:created>
  <dcterms:modified xsi:type="dcterms:W3CDTF">2025-10-10T13:09:32Z</dcterms:modified>
</cp:coreProperties>
</file>