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488" r:id="rId3"/>
    <p:sldId id="489" r:id="rId4"/>
    <p:sldId id="434" r:id="rId5"/>
    <p:sldId id="421" r:id="rId6"/>
    <p:sldId id="487" r:id="rId7"/>
    <p:sldId id="435" r:id="rId8"/>
    <p:sldId id="436" r:id="rId9"/>
    <p:sldId id="437" r:id="rId10"/>
    <p:sldId id="438" r:id="rId11"/>
    <p:sldId id="439" r:id="rId12"/>
    <p:sldId id="473" r:id="rId13"/>
    <p:sldId id="474" r:id="rId14"/>
    <p:sldId id="490" r:id="rId15"/>
    <p:sldId id="475" r:id="rId16"/>
    <p:sldId id="476" r:id="rId17"/>
    <p:sldId id="477" r:id="rId18"/>
    <p:sldId id="481" r:id="rId19"/>
    <p:sldId id="482" r:id="rId20"/>
    <p:sldId id="491" r:id="rId21"/>
    <p:sldId id="483" r:id="rId22"/>
    <p:sldId id="484" r:id="rId23"/>
    <p:sldId id="48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369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0" d="100"/>
          <a:sy n="70" d="100"/>
        </p:scale>
        <p:origin x="46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C985CE-59C5-45E2-A255-FE7219291351}" type="doc">
      <dgm:prSet loTypeId="urn:microsoft.com/office/officeart/2005/8/layout/vList2" loCatId="list" qsTypeId="urn:microsoft.com/office/officeart/2005/8/quickstyle/3d3" qsCatId="3D" csTypeId="urn:microsoft.com/office/officeart/2005/8/colors/accent1_1" csCatId="accent1" phldr="1"/>
      <dgm:spPr/>
      <dgm:t>
        <a:bodyPr/>
        <a:lstStyle/>
        <a:p>
          <a:endParaRPr lang="en-US"/>
        </a:p>
      </dgm:t>
    </dgm:pt>
    <dgm:pt modelId="{07309409-2499-41C7-A009-C5E4F4221801}">
      <dgm:prSet phldrT="[Text]" custT="1"/>
      <dgm:spPr/>
      <dgm:t>
        <a:bodyPr/>
        <a:lstStyle/>
        <a:p>
          <a:r>
            <a:rPr lang="en-US" sz="2000" b="1" dirty="0">
              <a:latin typeface="EYInterstate" panose="02000503020000020004" pitchFamily="2" charset="0"/>
            </a:rPr>
            <a:t>Employee Related Tasks</a:t>
          </a:r>
        </a:p>
      </dgm:t>
    </dgm:pt>
    <dgm:pt modelId="{EFDC49EA-1DDF-47CD-9BFC-E32BEC526E88}" type="parTrans" cxnId="{B4CE706B-928E-40D6-BEC3-DC90474DAEFD}">
      <dgm:prSet/>
      <dgm:spPr/>
      <dgm:t>
        <a:bodyPr/>
        <a:lstStyle/>
        <a:p>
          <a:endParaRPr lang="en-US" sz="1200" b="1">
            <a:solidFill>
              <a:schemeClr val="bg2"/>
            </a:solidFill>
            <a:latin typeface="EYInterstate" panose="02000503020000020004" pitchFamily="2" charset="0"/>
          </a:endParaRPr>
        </a:p>
      </dgm:t>
    </dgm:pt>
    <dgm:pt modelId="{6B27CED8-3B8B-4952-8B9F-E16A8825055F}" type="sibTrans" cxnId="{B4CE706B-928E-40D6-BEC3-DC90474DAEFD}">
      <dgm:prSet/>
      <dgm:spPr/>
      <dgm:t>
        <a:bodyPr/>
        <a:lstStyle/>
        <a:p>
          <a:endParaRPr lang="en-US" sz="1200" b="1">
            <a:solidFill>
              <a:schemeClr val="bg2"/>
            </a:solidFill>
            <a:latin typeface="EYInterstate" panose="02000503020000020004" pitchFamily="2" charset="0"/>
          </a:endParaRPr>
        </a:p>
      </dgm:t>
    </dgm:pt>
    <dgm:pt modelId="{12A54AC3-8BDA-47A6-B434-ABD4C10097A8}">
      <dgm:prSet phldrT="[Text]" custT="1"/>
      <dgm:spPr/>
      <dgm:t>
        <a:bodyPr/>
        <a:lstStyle/>
        <a:p>
          <a:r>
            <a:rPr lang="en-US" sz="2000" b="1">
              <a:latin typeface="EYInterstate" panose="02000503020000020004" pitchFamily="2" charset="0"/>
            </a:rPr>
            <a:t>Manager Related Tasks</a:t>
          </a:r>
          <a:endParaRPr lang="en-US" sz="2000" b="1" dirty="0">
            <a:latin typeface="EYInterstate" panose="02000503020000020004" pitchFamily="2" charset="0"/>
          </a:endParaRPr>
        </a:p>
      </dgm:t>
    </dgm:pt>
    <dgm:pt modelId="{9BF8707D-BEE7-49A0-BF7F-16AA660BF27B}" type="parTrans" cxnId="{847FB3F8-5782-4647-A3CF-9FDD64C2D176}">
      <dgm:prSet/>
      <dgm:spPr/>
      <dgm:t>
        <a:bodyPr/>
        <a:lstStyle/>
        <a:p>
          <a:endParaRPr lang="en-US" sz="1200" b="1">
            <a:solidFill>
              <a:schemeClr val="bg2"/>
            </a:solidFill>
            <a:latin typeface="EYInterstate" panose="02000503020000020004" pitchFamily="2" charset="0"/>
          </a:endParaRPr>
        </a:p>
      </dgm:t>
    </dgm:pt>
    <dgm:pt modelId="{5AD9A6A3-5542-46B5-B1B2-D346461A0D4D}" type="sibTrans" cxnId="{847FB3F8-5782-4647-A3CF-9FDD64C2D176}">
      <dgm:prSet/>
      <dgm:spPr/>
      <dgm:t>
        <a:bodyPr/>
        <a:lstStyle/>
        <a:p>
          <a:endParaRPr lang="en-US" sz="1200" b="1">
            <a:solidFill>
              <a:schemeClr val="bg2"/>
            </a:solidFill>
            <a:latin typeface="EYInterstate" panose="02000503020000020004" pitchFamily="2" charset="0"/>
          </a:endParaRPr>
        </a:p>
      </dgm:t>
    </dgm:pt>
    <dgm:pt modelId="{7AE8B9DF-A2BA-4D54-809D-F653DDAC3141}">
      <dgm:prSet phldrT="[Text]" custT="1"/>
      <dgm:spPr/>
      <dgm:t>
        <a:bodyPr/>
        <a:lstStyle/>
        <a:p>
          <a:r>
            <a:rPr lang="en-US" sz="2000" b="1">
              <a:latin typeface="EYInterstate" panose="02000503020000020004" pitchFamily="2" charset="0"/>
            </a:rPr>
            <a:t>Reviewer Related Tasks</a:t>
          </a:r>
          <a:endParaRPr lang="en-US" sz="2000" b="1" dirty="0">
            <a:latin typeface="EYInterstate" panose="02000503020000020004" pitchFamily="2" charset="0"/>
          </a:endParaRPr>
        </a:p>
      </dgm:t>
    </dgm:pt>
    <dgm:pt modelId="{CE5E7957-10AA-4574-811F-184902DA958B}" type="parTrans" cxnId="{ED24E2F7-A17E-4C47-84C0-50F2A479BAA0}">
      <dgm:prSet/>
      <dgm:spPr/>
      <dgm:t>
        <a:bodyPr/>
        <a:lstStyle/>
        <a:p>
          <a:endParaRPr lang="en-IN">
            <a:latin typeface="EYInterstate" panose="02000503020000020004" pitchFamily="2" charset="0"/>
          </a:endParaRPr>
        </a:p>
      </dgm:t>
    </dgm:pt>
    <dgm:pt modelId="{642517BE-5BAE-4801-9246-015209DCA801}" type="sibTrans" cxnId="{ED24E2F7-A17E-4C47-84C0-50F2A479BAA0}">
      <dgm:prSet/>
      <dgm:spPr/>
      <dgm:t>
        <a:bodyPr/>
        <a:lstStyle/>
        <a:p>
          <a:endParaRPr lang="en-IN">
            <a:latin typeface="EYInterstate" panose="02000503020000020004" pitchFamily="2" charset="0"/>
          </a:endParaRPr>
        </a:p>
      </dgm:t>
    </dgm:pt>
    <dgm:pt modelId="{699764B0-B3A9-4DC3-92DB-1120B553CF5F}" type="pres">
      <dgm:prSet presAssocID="{AEC985CE-59C5-45E2-A255-FE7219291351}" presName="linear" presStyleCnt="0">
        <dgm:presLayoutVars>
          <dgm:animLvl val="lvl"/>
          <dgm:resizeHandles val="exact"/>
        </dgm:presLayoutVars>
      </dgm:prSet>
      <dgm:spPr/>
    </dgm:pt>
    <dgm:pt modelId="{7FBF6973-FC96-413E-9833-34FCA25D1474}" type="pres">
      <dgm:prSet presAssocID="{07309409-2499-41C7-A009-C5E4F4221801}" presName="parentText" presStyleLbl="node1" presStyleIdx="0" presStyleCnt="3" custLinFactNeighborY="-38669">
        <dgm:presLayoutVars>
          <dgm:chMax val="0"/>
          <dgm:bulletEnabled val="1"/>
        </dgm:presLayoutVars>
      </dgm:prSet>
      <dgm:spPr/>
    </dgm:pt>
    <dgm:pt modelId="{993EAB3C-8898-475B-AA14-C3168ACAB3A9}" type="pres">
      <dgm:prSet presAssocID="{6B27CED8-3B8B-4952-8B9F-E16A8825055F}" presName="spacer" presStyleCnt="0"/>
      <dgm:spPr/>
    </dgm:pt>
    <dgm:pt modelId="{89A545B9-CBF1-4224-B6BC-F9BBFFFDD45D}" type="pres">
      <dgm:prSet presAssocID="{12A54AC3-8BDA-47A6-B434-ABD4C10097A8}" presName="parentText" presStyleLbl="node1" presStyleIdx="1" presStyleCnt="3" custLinFactNeighborY="7297">
        <dgm:presLayoutVars>
          <dgm:chMax val="0"/>
          <dgm:bulletEnabled val="1"/>
        </dgm:presLayoutVars>
      </dgm:prSet>
      <dgm:spPr/>
    </dgm:pt>
    <dgm:pt modelId="{5B4163DA-0A9A-494D-AAA0-5D0B27E15762}" type="pres">
      <dgm:prSet presAssocID="{5AD9A6A3-5542-46B5-B1B2-D346461A0D4D}" presName="spacer" presStyleCnt="0"/>
      <dgm:spPr/>
    </dgm:pt>
    <dgm:pt modelId="{BE1FDDEE-C6DA-4462-B6DA-376623127DC0}" type="pres">
      <dgm:prSet presAssocID="{7AE8B9DF-A2BA-4D54-809D-F653DDAC3141}" presName="parentText" presStyleLbl="node1" presStyleIdx="2" presStyleCnt="3">
        <dgm:presLayoutVars>
          <dgm:chMax val="0"/>
          <dgm:bulletEnabled val="1"/>
        </dgm:presLayoutVars>
      </dgm:prSet>
      <dgm:spPr/>
    </dgm:pt>
  </dgm:ptLst>
  <dgm:cxnLst>
    <dgm:cxn modelId="{46CC490D-9554-49C5-BFE3-B482AD15C89F}" type="presOf" srcId="{7AE8B9DF-A2BA-4D54-809D-F653DDAC3141}" destId="{BE1FDDEE-C6DA-4462-B6DA-376623127DC0}" srcOrd="0" destOrd="0" presId="urn:microsoft.com/office/officeart/2005/8/layout/vList2"/>
    <dgm:cxn modelId="{C9022B32-1D8D-4282-BD15-2C94AFCCCAB3}" type="presOf" srcId="{07309409-2499-41C7-A009-C5E4F4221801}" destId="{7FBF6973-FC96-413E-9833-34FCA25D1474}" srcOrd="0" destOrd="0" presId="urn:microsoft.com/office/officeart/2005/8/layout/vList2"/>
    <dgm:cxn modelId="{B4CE706B-928E-40D6-BEC3-DC90474DAEFD}" srcId="{AEC985CE-59C5-45E2-A255-FE7219291351}" destId="{07309409-2499-41C7-A009-C5E4F4221801}" srcOrd="0" destOrd="0" parTransId="{EFDC49EA-1DDF-47CD-9BFC-E32BEC526E88}" sibTransId="{6B27CED8-3B8B-4952-8B9F-E16A8825055F}"/>
    <dgm:cxn modelId="{610B0185-EE0C-4052-8121-85CFED5634F6}" type="presOf" srcId="{12A54AC3-8BDA-47A6-B434-ABD4C10097A8}" destId="{89A545B9-CBF1-4224-B6BC-F9BBFFFDD45D}" srcOrd="0" destOrd="0" presId="urn:microsoft.com/office/officeart/2005/8/layout/vList2"/>
    <dgm:cxn modelId="{7A7D93EF-B506-4EF7-A40E-A2048752A0F7}" type="presOf" srcId="{AEC985CE-59C5-45E2-A255-FE7219291351}" destId="{699764B0-B3A9-4DC3-92DB-1120B553CF5F}" srcOrd="0" destOrd="0" presId="urn:microsoft.com/office/officeart/2005/8/layout/vList2"/>
    <dgm:cxn modelId="{ED24E2F7-A17E-4C47-84C0-50F2A479BAA0}" srcId="{AEC985CE-59C5-45E2-A255-FE7219291351}" destId="{7AE8B9DF-A2BA-4D54-809D-F653DDAC3141}" srcOrd="2" destOrd="0" parTransId="{CE5E7957-10AA-4574-811F-184902DA958B}" sibTransId="{642517BE-5BAE-4801-9246-015209DCA801}"/>
    <dgm:cxn modelId="{847FB3F8-5782-4647-A3CF-9FDD64C2D176}" srcId="{AEC985CE-59C5-45E2-A255-FE7219291351}" destId="{12A54AC3-8BDA-47A6-B434-ABD4C10097A8}" srcOrd="1" destOrd="0" parTransId="{9BF8707D-BEE7-49A0-BF7F-16AA660BF27B}" sibTransId="{5AD9A6A3-5542-46B5-B1B2-D346461A0D4D}"/>
    <dgm:cxn modelId="{26CA5781-3170-4A60-AB3E-67B170C79303}" type="presParOf" srcId="{699764B0-B3A9-4DC3-92DB-1120B553CF5F}" destId="{7FBF6973-FC96-413E-9833-34FCA25D1474}" srcOrd="0" destOrd="0" presId="urn:microsoft.com/office/officeart/2005/8/layout/vList2"/>
    <dgm:cxn modelId="{CC93F87F-49B9-4A89-8473-1C777C3C12E0}" type="presParOf" srcId="{699764B0-B3A9-4DC3-92DB-1120B553CF5F}" destId="{993EAB3C-8898-475B-AA14-C3168ACAB3A9}" srcOrd="1" destOrd="0" presId="urn:microsoft.com/office/officeart/2005/8/layout/vList2"/>
    <dgm:cxn modelId="{1AB8ECB0-52D6-456C-9A9F-94DF1B40F97E}" type="presParOf" srcId="{699764B0-B3A9-4DC3-92DB-1120B553CF5F}" destId="{89A545B9-CBF1-4224-B6BC-F9BBFFFDD45D}" srcOrd="2" destOrd="0" presId="urn:microsoft.com/office/officeart/2005/8/layout/vList2"/>
    <dgm:cxn modelId="{10959C14-B65C-45C5-B8DE-4A8898B0771A}" type="presParOf" srcId="{699764B0-B3A9-4DC3-92DB-1120B553CF5F}" destId="{5B4163DA-0A9A-494D-AAA0-5D0B27E15762}" srcOrd="3" destOrd="0" presId="urn:microsoft.com/office/officeart/2005/8/layout/vList2"/>
    <dgm:cxn modelId="{2B839C86-C5AC-4426-B9C1-64A6E77CC171}" type="presParOf" srcId="{699764B0-B3A9-4DC3-92DB-1120B553CF5F}" destId="{BE1FDDEE-C6DA-4462-B6DA-376623127DC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BF6973-FC96-413E-9833-34FCA25D1474}">
      <dsp:nvSpPr>
        <dsp:cNvPr id="0" name=""/>
        <dsp:cNvSpPr/>
      </dsp:nvSpPr>
      <dsp:spPr>
        <a:xfrm>
          <a:off x="0" y="132209"/>
          <a:ext cx="4462755" cy="1216800"/>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EYInterstate" panose="02000503020000020004" pitchFamily="2" charset="0"/>
            </a:rPr>
            <a:t>Employee Related Tasks</a:t>
          </a:r>
        </a:p>
      </dsp:txBody>
      <dsp:txXfrm>
        <a:off x="59399" y="191608"/>
        <a:ext cx="4343957" cy="1098002"/>
      </dsp:txXfrm>
    </dsp:sp>
    <dsp:sp modelId="{89A545B9-CBF1-4224-B6BC-F9BBFFFDD45D}">
      <dsp:nvSpPr>
        <dsp:cNvPr id="0" name=""/>
        <dsp:cNvSpPr/>
      </dsp:nvSpPr>
      <dsp:spPr>
        <a:xfrm>
          <a:off x="0" y="1622257"/>
          <a:ext cx="4462755" cy="1216800"/>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latin typeface="EYInterstate" panose="02000503020000020004" pitchFamily="2" charset="0"/>
            </a:rPr>
            <a:t>Manager Related Tasks</a:t>
          </a:r>
          <a:endParaRPr lang="en-US" sz="2000" b="1" kern="1200" dirty="0">
            <a:latin typeface="EYInterstate" panose="02000503020000020004" pitchFamily="2" charset="0"/>
          </a:endParaRPr>
        </a:p>
      </dsp:txBody>
      <dsp:txXfrm>
        <a:off x="59399" y="1681656"/>
        <a:ext cx="4343957" cy="1098002"/>
      </dsp:txXfrm>
    </dsp:sp>
    <dsp:sp modelId="{BE1FDDEE-C6DA-4462-B6DA-376623127DC0}">
      <dsp:nvSpPr>
        <dsp:cNvPr id="0" name=""/>
        <dsp:cNvSpPr/>
      </dsp:nvSpPr>
      <dsp:spPr>
        <a:xfrm>
          <a:off x="0" y="3012597"/>
          <a:ext cx="4462755" cy="1216800"/>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latin typeface="EYInterstate" panose="02000503020000020004" pitchFamily="2" charset="0"/>
            </a:rPr>
            <a:t>Reviewer Related Tasks</a:t>
          </a:r>
          <a:endParaRPr lang="en-US" sz="2000" b="1" kern="1200" dirty="0">
            <a:latin typeface="EYInterstate" panose="02000503020000020004" pitchFamily="2" charset="0"/>
          </a:endParaRPr>
        </a:p>
      </dsp:txBody>
      <dsp:txXfrm>
        <a:off x="59399" y="3071996"/>
        <a:ext cx="4343957"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55536-10F8-446C-A86C-911F522CF89B}"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26D343-F3DC-4024-BF63-0BF31EAEA610}" type="slidenum">
              <a:rPr lang="en-IN" smtClean="0"/>
              <a:t>‹#›</a:t>
            </a:fld>
            <a:endParaRPr lang="en-IN"/>
          </a:p>
        </p:txBody>
      </p:sp>
    </p:spTree>
    <p:extLst>
      <p:ext uri="{BB962C8B-B14F-4D97-AF65-F5344CB8AC3E}">
        <p14:creationId xmlns:p14="http://schemas.microsoft.com/office/powerpoint/2010/main" val="2241512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3663D0-D604-46D0-B5FD-662BE0397D7E}" type="slidenum">
              <a:rPr lang="en-US">
                <a:solidFill>
                  <a:prstClr val="black"/>
                </a:solidFill>
              </a:rPr>
              <a:pPr/>
              <a:t>5</a:t>
            </a:fld>
            <a:endParaRPr lang="en-US" dirty="0">
              <a:solidFill>
                <a:prstClr val="black"/>
              </a:solidFill>
            </a:endParaRPr>
          </a:p>
        </p:txBody>
      </p:sp>
      <p:sp>
        <p:nvSpPr>
          <p:cNvPr id="859138" name="Rectangle 2"/>
          <p:cNvSpPr>
            <a:spLocks noGrp="1" noRot="1" noChangeAspect="1" noChangeArrowheads="1" noTextEdit="1"/>
          </p:cNvSpPr>
          <p:nvPr>
            <p:ph type="sldImg"/>
          </p:nvPr>
        </p:nvSpPr>
        <p:spPr>
          <a:xfrm>
            <a:off x="457200" y="720725"/>
            <a:ext cx="6400800" cy="3600450"/>
          </a:xfrm>
          <a:ln/>
        </p:spPr>
      </p:sp>
      <p:sp>
        <p:nvSpPr>
          <p:cNvPr id="859139"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151776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3663D0-D604-46D0-B5FD-662BE0397D7E}" type="slidenum">
              <a:rPr lang="en-US">
                <a:solidFill>
                  <a:prstClr val="black"/>
                </a:solidFill>
              </a:rPr>
              <a:pPr/>
              <a:t>12</a:t>
            </a:fld>
            <a:endParaRPr lang="en-US" dirty="0">
              <a:solidFill>
                <a:prstClr val="black"/>
              </a:solidFill>
            </a:endParaRPr>
          </a:p>
        </p:txBody>
      </p:sp>
      <p:sp>
        <p:nvSpPr>
          <p:cNvPr id="859138" name="Rectangle 2"/>
          <p:cNvSpPr>
            <a:spLocks noGrp="1" noRot="1" noChangeAspect="1" noChangeArrowheads="1" noTextEdit="1"/>
          </p:cNvSpPr>
          <p:nvPr>
            <p:ph type="sldImg"/>
          </p:nvPr>
        </p:nvSpPr>
        <p:spPr>
          <a:xfrm>
            <a:off x="457200" y="720725"/>
            <a:ext cx="6400800" cy="3600450"/>
          </a:xfrm>
          <a:ln/>
        </p:spPr>
      </p:sp>
      <p:sp>
        <p:nvSpPr>
          <p:cNvPr id="859139"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32656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3663D0-D604-46D0-B5FD-662BE0397D7E}" type="slidenum">
              <a:rPr lang="en-US">
                <a:solidFill>
                  <a:prstClr val="black"/>
                </a:solidFill>
              </a:rPr>
              <a:pPr/>
              <a:t>18</a:t>
            </a:fld>
            <a:endParaRPr lang="en-US" dirty="0">
              <a:solidFill>
                <a:prstClr val="black"/>
              </a:solidFill>
            </a:endParaRPr>
          </a:p>
        </p:txBody>
      </p:sp>
      <p:sp>
        <p:nvSpPr>
          <p:cNvPr id="859138" name="Rectangle 2"/>
          <p:cNvSpPr>
            <a:spLocks noGrp="1" noRot="1" noChangeAspect="1" noChangeArrowheads="1" noTextEdit="1"/>
          </p:cNvSpPr>
          <p:nvPr>
            <p:ph type="sldImg"/>
          </p:nvPr>
        </p:nvSpPr>
        <p:spPr>
          <a:xfrm>
            <a:off x="457200" y="720725"/>
            <a:ext cx="6400800" cy="3600450"/>
          </a:xfrm>
          <a:ln/>
        </p:spPr>
      </p:sp>
      <p:sp>
        <p:nvSpPr>
          <p:cNvPr id="859139"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572593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7ACE7-CC7A-2E43-4A4D-8DA4431A6D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6F1EDF-CA44-D262-BA53-0A0AB339E5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3474CD-9E0A-8264-72FB-C848A6C0A56A}"/>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5" name="Footer Placeholder 4">
            <a:extLst>
              <a:ext uri="{FF2B5EF4-FFF2-40B4-BE49-F238E27FC236}">
                <a16:creationId xmlns:a16="http://schemas.microsoft.com/office/drawing/2014/main" id="{0EC4F92B-8066-79F9-96AB-2605E8131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8D2F19-3B5B-7E6A-3561-5A2598568DD6}"/>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535448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8A3AA-DE9B-6EF1-EBEA-62C3716C2E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BCE828-56E3-B9E9-4A63-0A5DB21D93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5F2279-C03E-0BE6-0DB9-59C6D716972B}"/>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5" name="Footer Placeholder 4">
            <a:extLst>
              <a:ext uri="{FF2B5EF4-FFF2-40B4-BE49-F238E27FC236}">
                <a16:creationId xmlns:a16="http://schemas.microsoft.com/office/drawing/2014/main" id="{ABDC50A9-3172-4FE3-00BE-EEA4C0F84D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D58F0D-E7E1-0670-0C5E-6E693896A3BC}"/>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102959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9168-E0D7-10F4-A98F-0D4373CA62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C4B11F-B400-FF45-7772-714E59E00E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EB931F-8AAF-2D9A-D884-2BAA1E049971}"/>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5" name="Footer Placeholder 4">
            <a:extLst>
              <a:ext uri="{FF2B5EF4-FFF2-40B4-BE49-F238E27FC236}">
                <a16:creationId xmlns:a16="http://schemas.microsoft.com/office/drawing/2014/main" id="{1403FC13-33CC-0150-28B6-0AF7F52F6F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71FF4F-39C1-8420-50E6-A3FBAEAAE567}"/>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55144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CBC6-D4CB-EE9F-FC7B-0C869F67D6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7B91D1-BCAA-686F-8A62-F460BA2AD1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808B22-F175-4DDE-CD87-0F45225B88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AA95F4-EDF3-2950-B2F0-D3C6CD690B01}"/>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6" name="Footer Placeholder 5">
            <a:extLst>
              <a:ext uri="{FF2B5EF4-FFF2-40B4-BE49-F238E27FC236}">
                <a16:creationId xmlns:a16="http://schemas.microsoft.com/office/drawing/2014/main" id="{CF29DD72-53AC-A6C6-D0C8-EE060DEA7F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8DC9BE-AF48-EF7C-BA99-D256052C5D5B}"/>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279413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54816-7587-8E24-A9C4-82AF0399E1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2BB603-C7D9-766F-09DF-0BA2B7A482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4DA42D-A7C9-4577-62B8-71AB3653DC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5061E0-D344-A074-E5BC-28CCADD25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DAE14B-07B2-7EB8-6CA8-D5DDBBDFB3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6215A4-D900-29F5-1C23-046BBEEC612F}"/>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8" name="Footer Placeholder 7">
            <a:extLst>
              <a:ext uri="{FF2B5EF4-FFF2-40B4-BE49-F238E27FC236}">
                <a16:creationId xmlns:a16="http://schemas.microsoft.com/office/drawing/2014/main" id="{12A36DBB-E4CF-E5CC-E527-FEDD8113B9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B99CDD-3842-5EB2-C7EE-D16CE1FFC25D}"/>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1068122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6B5EE-DED5-E8C5-139A-6189E123C8F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1DE400-5CD4-5C93-1042-6EA30C89F832}"/>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4" name="Footer Placeholder 3">
            <a:extLst>
              <a:ext uri="{FF2B5EF4-FFF2-40B4-BE49-F238E27FC236}">
                <a16:creationId xmlns:a16="http://schemas.microsoft.com/office/drawing/2014/main" id="{961BC80A-76EA-C557-AD7F-9EF0E40E88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7471C0-0E22-DE01-7A4A-624B007FB963}"/>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108209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860AA-C15F-6469-355F-F38A08436586}"/>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3" name="Footer Placeholder 2">
            <a:extLst>
              <a:ext uri="{FF2B5EF4-FFF2-40B4-BE49-F238E27FC236}">
                <a16:creationId xmlns:a16="http://schemas.microsoft.com/office/drawing/2014/main" id="{D78BDB66-1F08-FE10-67B8-BA2234A14B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F1B9F4-EA52-3E9A-CBC3-A08EC0B93194}"/>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4418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973F1-CB34-7EEF-FDD0-0676A4589C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4856AF-0511-F0FA-981D-1745DBDEA5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744591-90D4-F103-23C5-72C1E6339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D98B97-046F-5820-AA3E-CE17ABCFBCAB}"/>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6" name="Footer Placeholder 5">
            <a:extLst>
              <a:ext uri="{FF2B5EF4-FFF2-40B4-BE49-F238E27FC236}">
                <a16:creationId xmlns:a16="http://schemas.microsoft.com/office/drawing/2014/main" id="{CCCE7702-887B-AB9F-BADF-70D0EAB35F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BEDD73-AD4E-75A7-5A4F-4CBC8D3B72EC}"/>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019242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6A67B-D11B-95AC-3635-51FA32EBB4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0C3C44-2C7C-4126-794C-D57608AE99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26348E-90C4-C93E-43DF-DCE31764D5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250050-3E3C-06C0-3E05-F4086C12319D}"/>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6" name="Footer Placeholder 5">
            <a:extLst>
              <a:ext uri="{FF2B5EF4-FFF2-40B4-BE49-F238E27FC236}">
                <a16:creationId xmlns:a16="http://schemas.microsoft.com/office/drawing/2014/main" id="{1640572E-0068-53D6-4D05-6CD15199B0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6051C4-B060-2CF5-17CE-B159E8B2BE94}"/>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571196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18AB-3388-B87D-F6DA-DD30EFCD82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FB7017-E9D9-C946-72A7-60620324D5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85123-717D-2BEB-0164-6D33A30B0C44}"/>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5" name="Footer Placeholder 4">
            <a:extLst>
              <a:ext uri="{FF2B5EF4-FFF2-40B4-BE49-F238E27FC236}">
                <a16:creationId xmlns:a16="http://schemas.microsoft.com/office/drawing/2014/main" id="{DEBCF351-D03E-C0F6-147D-DBC88C0AF3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9AC014-7227-73A3-A7B3-1BFFC724C178}"/>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232147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895860-4339-19EE-EB0F-5FA53A9756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CB5261-0C9C-D66B-1F67-FEB9A7D9F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23661-0968-7687-7036-A06950652D37}"/>
              </a:ext>
            </a:extLst>
          </p:cNvPr>
          <p:cNvSpPr>
            <a:spLocks noGrp="1"/>
          </p:cNvSpPr>
          <p:nvPr>
            <p:ph type="dt" sz="half" idx="10"/>
          </p:nvPr>
        </p:nvSpPr>
        <p:spPr/>
        <p:txBody>
          <a:bodyPr/>
          <a:lstStyle/>
          <a:p>
            <a:fld id="{1853744D-D8D3-4F70-AA0F-251A0B695658}" type="datetimeFigureOut">
              <a:rPr lang="en-IN" smtClean="0"/>
              <a:t>06-11-2025</a:t>
            </a:fld>
            <a:endParaRPr lang="en-IN"/>
          </a:p>
        </p:txBody>
      </p:sp>
      <p:sp>
        <p:nvSpPr>
          <p:cNvPr id="5" name="Footer Placeholder 4">
            <a:extLst>
              <a:ext uri="{FF2B5EF4-FFF2-40B4-BE49-F238E27FC236}">
                <a16:creationId xmlns:a16="http://schemas.microsoft.com/office/drawing/2014/main" id="{E47D56EC-65B3-A75A-F279-5E488A4FF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E85822-B503-E5EF-0B40-4DDEB6D338D3}"/>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053376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er, Sub-header &amp; body copy WHITE">
    <p:spTree>
      <p:nvGrpSpPr>
        <p:cNvPr id="1" name="Shape 35"/>
        <p:cNvGrpSpPr/>
        <p:nvPr/>
      </p:nvGrpSpPr>
      <p:grpSpPr>
        <a:xfrm>
          <a:off x="0" y="0"/>
          <a:ext cx="0" cy="0"/>
          <a:chOff x="0" y="0"/>
          <a:chExt cx="0" cy="0"/>
        </a:xfrm>
      </p:grpSpPr>
      <p:sp>
        <p:nvSpPr>
          <p:cNvPr id="36" name="Shape 36"/>
          <p:cNvSpPr txBox="1">
            <a:spLocks noGrp="1"/>
          </p:cNvSpPr>
          <p:nvPr>
            <p:ph type="title"/>
          </p:nvPr>
        </p:nvSpPr>
        <p:spPr>
          <a:xfrm>
            <a:off x="378883" y="139824"/>
            <a:ext cx="11228799" cy="1143200"/>
          </a:xfrm>
          <a:prstGeom prst="rect">
            <a:avLst/>
          </a:prstGeom>
          <a:noFill/>
          <a:ln>
            <a:noFill/>
          </a:ln>
        </p:spPr>
        <p:txBody>
          <a:bodyPr/>
          <a:lstStyle>
            <a:lvl1pPr lvl="0" algn="l" rtl="0">
              <a:spcBef>
                <a:spcPts val="0"/>
              </a:spcBef>
              <a:buClr>
                <a:srgbClr val="CE0B10"/>
              </a:buClr>
              <a:buSzPct val="100000"/>
              <a:buFont typeface="Tahoma"/>
              <a:buNone/>
              <a:defRPr sz="4533" b="0" i="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dirty="0"/>
          </a:p>
        </p:txBody>
      </p:sp>
      <p:sp>
        <p:nvSpPr>
          <p:cNvPr id="9" name="Shape 190"/>
          <p:cNvSpPr txBox="1">
            <a:spLocks noGrp="1"/>
          </p:cNvSpPr>
          <p:nvPr>
            <p:ph type="body" idx="3"/>
          </p:nvPr>
        </p:nvSpPr>
        <p:spPr>
          <a:xfrm>
            <a:off x="379200" y="1708801"/>
            <a:ext cx="11277600" cy="4042833"/>
          </a:xfrm>
        </p:spPr>
        <p:txBody>
          <a:bodyPr>
            <a:noAutofit/>
          </a:bodyPr>
          <a:lstStyle>
            <a:lvl1pPr>
              <a:defRPr sz="1600" b="0" i="0">
                <a:solidFill>
                  <a:schemeClr val="bg1">
                    <a:lumMod val="50000"/>
                  </a:schemeClr>
                </a:solidFill>
                <a:latin typeface="Sky Text" charset="0"/>
                <a:ea typeface="Sky Text" charset="0"/>
                <a:cs typeface="Sky Text" charset="0"/>
              </a:defRPr>
            </a:lvl1pPr>
          </a:lstStyle>
          <a:p>
            <a:endParaRPr lang="en-US" dirty="0"/>
          </a:p>
        </p:txBody>
      </p:sp>
      <p:sp>
        <p:nvSpPr>
          <p:cNvPr id="17" name="Shape 61"/>
          <p:cNvSpPr txBox="1">
            <a:spLocks noGrp="1"/>
          </p:cNvSpPr>
          <p:nvPr>
            <p:ph type="body" idx="2"/>
          </p:nvPr>
        </p:nvSpPr>
        <p:spPr>
          <a:xfrm>
            <a:off x="379200" y="1171201"/>
            <a:ext cx="8902000" cy="692399"/>
          </a:xfrm>
          <a:prstGeom prst="rect">
            <a:avLst/>
          </a:prstGeom>
          <a:noFill/>
          <a:ln>
            <a:noFill/>
          </a:ln>
        </p:spPr>
        <p:txBody>
          <a:bodyPr/>
          <a:lstStyle>
            <a:lvl1pPr marL="0" lvl="0" indent="0" rtl="0">
              <a:lnSpc>
                <a:spcPct val="125000"/>
              </a:lnSpc>
              <a:spcBef>
                <a:spcPts val="0"/>
              </a:spcBef>
              <a:buClr>
                <a:srgbClr val="FFFFFF"/>
              </a:buClr>
              <a:buSzPct val="100000"/>
              <a:buNone/>
              <a:defRPr sz="1867" b="0" i="0">
                <a:solidFill>
                  <a:srgbClr val="000000"/>
                </a:solidFill>
                <a:latin typeface="Sky Text" charset="0"/>
                <a:ea typeface="Sky Text" charset="0"/>
                <a:cs typeface="Sky Text" charset="0"/>
                <a:sym typeface="Tahoma"/>
              </a:defRPr>
            </a:lvl1pPr>
            <a:lvl2pPr marL="609585" lvl="1" indent="0" rtl="0">
              <a:lnSpc>
                <a:spcPct val="100000"/>
              </a:lnSpc>
              <a:spcBef>
                <a:spcPts val="0"/>
              </a:spcBef>
              <a:buClr>
                <a:srgbClr val="FFFFFF"/>
              </a:buClr>
              <a:buSzPct val="100000"/>
              <a:buNone/>
              <a:defRPr sz="2667" b="1">
                <a:solidFill>
                  <a:srgbClr val="FFFFFF"/>
                </a:solidFill>
                <a:latin typeface="Tahoma"/>
                <a:ea typeface="Tahoma"/>
                <a:cs typeface="Tahoma"/>
                <a:sym typeface="Tahoma"/>
              </a:defRPr>
            </a:lvl2pPr>
            <a:lvl3pPr marL="1219170" lvl="2" indent="0" rtl="0">
              <a:lnSpc>
                <a:spcPct val="114285"/>
              </a:lnSpc>
              <a:spcBef>
                <a:spcPts val="0"/>
              </a:spcBef>
              <a:buClr>
                <a:srgbClr val="FFFFFF"/>
              </a:buClr>
              <a:buSzPct val="100000"/>
              <a:buNone/>
              <a:defRPr sz="2667" b="1">
                <a:solidFill>
                  <a:srgbClr val="FFFFFF"/>
                </a:solidFill>
                <a:latin typeface="Tahoma"/>
                <a:ea typeface="Tahoma"/>
                <a:cs typeface="Tahoma"/>
                <a:sym typeface="Tahoma"/>
              </a:defRPr>
            </a:lvl3pPr>
            <a:lvl4pPr marL="1828754" lvl="3" indent="0" rtl="0">
              <a:lnSpc>
                <a:spcPct val="133333"/>
              </a:lnSpc>
              <a:spcBef>
                <a:spcPts val="0"/>
              </a:spcBef>
              <a:buClr>
                <a:srgbClr val="FFFFFF"/>
              </a:buClr>
              <a:buSzPct val="100000"/>
              <a:buNone/>
              <a:defRPr sz="2667" b="1">
                <a:solidFill>
                  <a:srgbClr val="FFFFFF"/>
                </a:solidFill>
                <a:latin typeface="Tahoma"/>
                <a:ea typeface="Tahoma"/>
                <a:cs typeface="Tahoma"/>
                <a:sym typeface="Tahoma"/>
              </a:defRPr>
            </a:lvl4pPr>
            <a:lvl5pPr marL="2438339" lvl="4" indent="0" rtl="0">
              <a:lnSpc>
                <a:spcPct val="133333"/>
              </a:lnSpc>
              <a:spcBef>
                <a:spcPts val="0"/>
              </a:spcBef>
              <a:buClr>
                <a:srgbClr val="FFFFFF"/>
              </a:buClr>
              <a:buSzPct val="100000"/>
              <a:buNone/>
              <a:defRPr sz="2667" b="1">
                <a:solidFill>
                  <a:srgbClr val="FFFFFF"/>
                </a:solidFill>
                <a:latin typeface="Tahoma"/>
                <a:ea typeface="Tahoma"/>
                <a:cs typeface="Tahoma"/>
                <a:sym typeface="Tahoma"/>
              </a:defRPr>
            </a:lvl5pPr>
            <a:lvl6pPr lvl="5" rtl="0">
              <a:spcBef>
                <a:spcPts val="0"/>
              </a:spcBef>
              <a:buClr>
                <a:srgbClr val="FFFFFF"/>
              </a:buClr>
              <a:buSzPct val="100000"/>
              <a:buFont typeface="Tahoma"/>
              <a:defRPr sz="2667" b="1">
                <a:solidFill>
                  <a:srgbClr val="FFFFFF"/>
                </a:solidFill>
                <a:latin typeface="Tahoma"/>
                <a:ea typeface="Tahoma"/>
                <a:cs typeface="Tahoma"/>
                <a:sym typeface="Tahoma"/>
              </a:defRPr>
            </a:lvl6pPr>
            <a:lvl7pPr lvl="6" rtl="0">
              <a:spcBef>
                <a:spcPts val="0"/>
              </a:spcBef>
              <a:buClr>
                <a:srgbClr val="FFFFFF"/>
              </a:buClr>
              <a:buSzPct val="100000"/>
              <a:buFont typeface="Tahoma"/>
              <a:defRPr sz="2667" b="1">
                <a:solidFill>
                  <a:srgbClr val="FFFFFF"/>
                </a:solidFill>
                <a:latin typeface="Tahoma"/>
                <a:ea typeface="Tahoma"/>
                <a:cs typeface="Tahoma"/>
                <a:sym typeface="Tahoma"/>
              </a:defRPr>
            </a:lvl7pPr>
            <a:lvl8pPr lvl="7" rtl="0">
              <a:spcBef>
                <a:spcPts val="0"/>
              </a:spcBef>
              <a:buClr>
                <a:srgbClr val="FFFFFF"/>
              </a:buClr>
              <a:buSzPct val="100000"/>
              <a:buFont typeface="Tahoma"/>
              <a:defRPr sz="2667" b="1">
                <a:solidFill>
                  <a:srgbClr val="FFFFFF"/>
                </a:solidFill>
                <a:latin typeface="Tahoma"/>
                <a:ea typeface="Tahoma"/>
                <a:cs typeface="Tahoma"/>
                <a:sym typeface="Tahoma"/>
              </a:defRPr>
            </a:lvl8pPr>
            <a:lvl9pPr lvl="8" rtl="0">
              <a:spcBef>
                <a:spcPts val="0"/>
              </a:spcBef>
              <a:buClr>
                <a:srgbClr val="FFFFFF"/>
              </a:buClr>
              <a:buSzPct val="100000"/>
              <a:buFont typeface="Tahoma"/>
              <a:defRPr sz="2667" b="1">
                <a:solidFill>
                  <a:srgbClr val="FFFFFF"/>
                </a:solidFill>
                <a:latin typeface="Tahoma"/>
                <a:ea typeface="Tahoma"/>
                <a:cs typeface="Tahoma"/>
                <a:sym typeface="Tahoma"/>
              </a:defRPr>
            </a:lvl9pPr>
          </a:lstStyle>
          <a:p>
            <a:endParaRPr dirty="0"/>
          </a:p>
        </p:txBody>
      </p:sp>
      <p:sp>
        <p:nvSpPr>
          <p:cNvPr id="20" name="Shape 45"/>
          <p:cNvSpPr txBox="1">
            <a:spLocks noGrp="1"/>
          </p:cNvSpPr>
          <p:nvPr>
            <p:ph type="sldNum" idx="10"/>
          </p:nvPr>
        </p:nvSpPr>
        <p:spPr>
          <a:xfrm>
            <a:off x="378883" y="6356351"/>
            <a:ext cx="2844800" cy="366183"/>
          </a:xfrm>
        </p:spPr>
        <p:txBody>
          <a:bodyPr/>
          <a:lstStyle>
            <a:lvl1pPr algn="l">
              <a:defRPr sz="1333" b="0" i="0" smtClean="0">
                <a:solidFill>
                  <a:schemeClr val="tx1"/>
                </a:solidFill>
                <a:latin typeface="Sky Text" charset="0"/>
                <a:ea typeface="Sky Text" charset="0"/>
                <a:cs typeface="Sky Text" charset="0"/>
              </a:defRPr>
            </a:lvl1pPr>
            <a:lvl2pPr lvl="1">
              <a:defRPr smtClean="0"/>
            </a:lvl2pPr>
            <a:lvl3pPr lvl="2">
              <a:defRPr smtClean="0"/>
            </a:lvl3pPr>
            <a:lvl4pPr lvl="3">
              <a:defRPr smtClean="0"/>
            </a:lvl4pPr>
            <a:lvl5pPr lvl="4">
              <a:defRPr smtClean="0"/>
            </a:lvl5pPr>
          </a:lstStyle>
          <a:p>
            <a:pPr>
              <a:defRPr/>
            </a:pPr>
            <a:fld id="{D3876D21-DC87-3F42-9AF0-FE122F184967}" type="slidenum">
              <a:rPr lang="en-US" altLang="en-US" smtClean="0"/>
              <a:pPr>
                <a:defRPr/>
              </a:pPr>
              <a:t>‹#›</a:t>
            </a:fld>
            <a:endParaRPr lang="en-US" altLang="en-US" dirty="0"/>
          </a:p>
        </p:txBody>
      </p:sp>
      <p:pic>
        <p:nvPicPr>
          <p:cNvPr id="7" name="Picture 6">
            <a:extLst>
              <a:ext uri="{FF2B5EF4-FFF2-40B4-BE49-F238E27FC236}">
                <a16:creationId xmlns:a16="http://schemas.microsoft.com/office/drawing/2014/main" id="{49416356-CE5E-43E0-B5AD-E01116253F42}"/>
              </a:ext>
            </a:extLst>
          </p:cNvPr>
          <p:cNvPicPr>
            <a:picLocks noChangeAspect="1"/>
          </p:cNvPicPr>
          <p:nvPr userDrawn="1"/>
        </p:nvPicPr>
        <p:blipFill>
          <a:blip r:embed="rId2"/>
          <a:stretch>
            <a:fillRect/>
          </a:stretch>
        </p:blipFill>
        <p:spPr>
          <a:xfrm>
            <a:off x="9281201" y="6290616"/>
            <a:ext cx="2481268" cy="291409"/>
          </a:xfrm>
          <a:prstGeom prst="rect">
            <a:avLst/>
          </a:prstGeom>
        </p:spPr>
      </p:pic>
    </p:spTree>
    <p:extLst>
      <p:ext uri="{BB962C8B-B14F-4D97-AF65-F5344CB8AC3E}">
        <p14:creationId xmlns:p14="http://schemas.microsoft.com/office/powerpoint/2010/main" val="168310665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1BA70C-74FA-53D1-7A09-B1E18709C4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8CC0B9-AFF2-20E2-0A5E-CC379F85E0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B55D97-1284-5C0E-6B48-39DDD713FA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53744D-D8D3-4F70-AA0F-251A0B695658}" type="datetimeFigureOut">
              <a:rPr lang="en-IN" smtClean="0"/>
              <a:t>06-11-2025</a:t>
            </a:fld>
            <a:endParaRPr lang="en-IN"/>
          </a:p>
        </p:txBody>
      </p:sp>
      <p:sp>
        <p:nvSpPr>
          <p:cNvPr id="5" name="Footer Placeholder 4">
            <a:extLst>
              <a:ext uri="{FF2B5EF4-FFF2-40B4-BE49-F238E27FC236}">
                <a16:creationId xmlns:a16="http://schemas.microsoft.com/office/drawing/2014/main" id="{D08AB008-70EA-F468-0A9D-EB7A95B872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95EE6F0-FF87-93C8-350F-E06BB8B1F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5227EC-083E-4180-8DFD-1FF9FB39E98F}" type="slidenum">
              <a:rPr lang="en-IN" smtClean="0"/>
              <a:t>‹#›</a:t>
            </a:fld>
            <a:endParaRPr lang="en-IN"/>
          </a:p>
        </p:txBody>
      </p:sp>
    </p:spTree>
    <p:extLst>
      <p:ext uri="{BB962C8B-B14F-4D97-AF65-F5344CB8AC3E}">
        <p14:creationId xmlns:p14="http://schemas.microsoft.com/office/powerpoint/2010/main" val="607833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3.png"/><Relationship Id="rId1" Type="http://schemas.openxmlformats.org/officeDocument/2006/relationships/slideLayout" Target="../slideLayouts/slideLayout12.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72"/>
            <a:ext cx="12192000" cy="6858000"/>
          </a:xfrm>
          <a:custGeom>
            <a:avLst/>
            <a:gdLst/>
            <a:ahLst/>
            <a:cxnLst/>
            <a:rect l="l" t="t" r="r" b="b"/>
            <a:pathLst>
              <a:path w="9144000" h="5143500">
                <a:moveTo>
                  <a:pt x="9144000" y="0"/>
                </a:moveTo>
                <a:lnTo>
                  <a:pt x="0" y="0"/>
                </a:lnTo>
                <a:lnTo>
                  <a:pt x="0" y="5143373"/>
                </a:lnTo>
                <a:lnTo>
                  <a:pt x="9144000" y="5143373"/>
                </a:lnTo>
                <a:lnTo>
                  <a:pt x="9144000" y="0"/>
                </a:lnTo>
                <a:close/>
              </a:path>
            </a:pathLst>
          </a:custGeom>
          <a:solidFill>
            <a:srgbClr val="5A3694"/>
          </a:solidFill>
        </p:spPr>
        <p:txBody>
          <a:bodyPr wrap="square" lIns="0" tIns="0" rIns="0" bIns="0" rtlCol="0"/>
          <a:lstStyle/>
          <a:p>
            <a:endParaRPr sz="2400"/>
          </a:p>
        </p:txBody>
      </p:sp>
      <p:sp>
        <p:nvSpPr>
          <p:cNvPr id="3" name="object 3"/>
          <p:cNvSpPr txBox="1"/>
          <p:nvPr/>
        </p:nvSpPr>
        <p:spPr>
          <a:xfrm>
            <a:off x="1562565" y="3742870"/>
            <a:ext cx="9524069" cy="447131"/>
          </a:xfrm>
          <a:prstGeom prst="rect">
            <a:avLst/>
          </a:prstGeom>
        </p:spPr>
        <p:txBody>
          <a:bodyPr vert="horz" wrap="square" lIns="0" tIns="16087" rIns="0" bIns="0" rtlCol="0">
            <a:spAutoFit/>
          </a:bodyPr>
          <a:lstStyle/>
          <a:p>
            <a:pPr marL="3186774" marR="6773" indent="-3170687" algn="ctr">
              <a:spcBef>
                <a:spcPts val="127"/>
              </a:spcBef>
            </a:pPr>
            <a:r>
              <a:rPr sz="2800" b="1" spc="-33" dirty="0">
                <a:solidFill>
                  <a:srgbClr val="FFFFFF"/>
                </a:solidFill>
                <a:latin typeface="+mj-lt"/>
                <a:cs typeface="Calibri"/>
              </a:rPr>
              <a:t>Navigation</a:t>
            </a:r>
            <a:r>
              <a:rPr sz="2800" b="1" spc="47" dirty="0">
                <a:solidFill>
                  <a:srgbClr val="FFFFFF"/>
                </a:solidFill>
                <a:latin typeface="+mj-lt"/>
                <a:cs typeface="Calibri"/>
              </a:rPr>
              <a:t> </a:t>
            </a:r>
            <a:r>
              <a:rPr sz="2800" b="1" spc="-7" dirty="0">
                <a:solidFill>
                  <a:srgbClr val="FFFFFF"/>
                </a:solidFill>
                <a:latin typeface="+mj-lt"/>
                <a:cs typeface="Calibri"/>
              </a:rPr>
              <a:t>Deck</a:t>
            </a:r>
            <a:r>
              <a:rPr sz="2800" b="1" spc="-13" dirty="0">
                <a:solidFill>
                  <a:srgbClr val="FFFFFF"/>
                </a:solidFill>
                <a:latin typeface="+mj-lt"/>
                <a:cs typeface="Calibri"/>
              </a:rPr>
              <a:t> </a:t>
            </a:r>
            <a:r>
              <a:rPr lang="en-GB" sz="2800" b="1" spc="-33" dirty="0">
                <a:solidFill>
                  <a:srgbClr val="FFFFFF"/>
                </a:solidFill>
                <a:latin typeface="+mj-lt"/>
                <a:cs typeface="Calibri"/>
              </a:rPr>
              <a:t>for </a:t>
            </a:r>
            <a:r>
              <a:rPr sz="2800" b="1" spc="-20" dirty="0">
                <a:solidFill>
                  <a:srgbClr val="FFFFFF"/>
                </a:solidFill>
                <a:latin typeface="+mj-lt"/>
                <a:cs typeface="Calibri"/>
              </a:rPr>
              <a:t>Performance </a:t>
            </a:r>
            <a:r>
              <a:rPr sz="2800" b="1" spc="-1187" dirty="0">
                <a:solidFill>
                  <a:srgbClr val="FFFFFF"/>
                </a:solidFill>
                <a:latin typeface="+mj-lt"/>
                <a:cs typeface="Calibri"/>
              </a:rPr>
              <a:t> </a:t>
            </a:r>
            <a:r>
              <a:rPr sz="2800" b="1" spc="-33" dirty="0">
                <a:solidFill>
                  <a:srgbClr val="FFFFFF"/>
                </a:solidFill>
                <a:latin typeface="+mj-lt"/>
                <a:cs typeface="Calibri"/>
              </a:rPr>
              <a:t>Evaluation</a:t>
            </a:r>
            <a:endParaRPr sz="2800" b="1" dirty="0">
              <a:latin typeface="+mj-lt"/>
              <a:cs typeface="Calibri"/>
            </a:endParaRPr>
          </a:p>
        </p:txBody>
      </p:sp>
      <p:sp>
        <p:nvSpPr>
          <p:cNvPr id="4" name="object 4"/>
          <p:cNvSpPr txBox="1"/>
          <p:nvPr/>
        </p:nvSpPr>
        <p:spPr>
          <a:xfrm>
            <a:off x="483751" y="6412720"/>
            <a:ext cx="119380" cy="221365"/>
          </a:xfrm>
          <a:prstGeom prst="rect">
            <a:avLst/>
          </a:prstGeom>
        </p:spPr>
        <p:txBody>
          <a:bodyPr vert="horz" wrap="square" lIns="0" tIns="16087" rIns="0" bIns="0" rtlCol="0">
            <a:spAutoFit/>
          </a:bodyPr>
          <a:lstStyle/>
          <a:p>
            <a:pPr marL="16933">
              <a:spcBef>
                <a:spcPts val="127"/>
              </a:spcBef>
            </a:pPr>
            <a:r>
              <a:rPr sz="1333" spc="-7" dirty="0">
                <a:latin typeface="Calibri"/>
                <a:cs typeface="Calibri"/>
              </a:rPr>
              <a:t>1</a:t>
            </a:r>
            <a:endParaRPr sz="1333">
              <a:latin typeface="Calibri"/>
              <a:cs typeface="Calibri"/>
            </a:endParaRPr>
          </a:p>
        </p:txBody>
      </p:sp>
      <p:pic>
        <p:nvPicPr>
          <p:cNvPr id="5" name="object 5"/>
          <p:cNvPicPr/>
          <p:nvPr/>
        </p:nvPicPr>
        <p:blipFill>
          <a:blip r:embed="rId2" cstate="print"/>
          <a:stretch>
            <a:fillRect/>
          </a:stretch>
        </p:blipFill>
        <p:spPr>
          <a:xfrm>
            <a:off x="1860354" y="1445693"/>
            <a:ext cx="8928489" cy="28092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73752-5547-CED9-694B-46145C10EC89}"/>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E73E03CC-59C2-93C6-8B95-23A9B401BF5D}"/>
              </a:ext>
            </a:extLst>
          </p:cNvPr>
          <p:cNvGrpSpPr/>
          <p:nvPr/>
        </p:nvGrpSpPr>
        <p:grpSpPr>
          <a:xfrm>
            <a:off x="0" y="0"/>
            <a:ext cx="12192000" cy="548640"/>
            <a:chOff x="0" y="0"/>
            <a:chExt cx="9144000" cy="411480"/>
          </a:xfrm>
        </p:grpSpPr>
        <p:pic>
          <p:nvPicPr>
            <p:cNvPr id="3" name="object 3">
              <a:extLst>
                <a:ext uri="{FF2B5EF4-FFF2-40B4-BE49-F238E27FC236}">
                  <a16:creationId xmlns:a16="http://schemas.microsoft.com/office/drawing/2014/main" id="{814750F3-9F2F-EF4C-A85E-1568DEAFFC7B}"/>
                </a:ext>
              </a:extLst>
            </p:cNvPr>
            <p:cNvPicPr/>
            <p:nvPr/>
          </p:nvPicPr>
          <p:blipFill>
            <a:blip r:embed="rId2" cstate="print"/>
            <a:stretch>
              <a:fillRect/>
            </a:stretch>
          </p:blipFill>
          <p:spPr>
            <a:xfrm>
              <a:off x="100279" y="86817"/>
              <a:ext cx="5429377" cy="263956"/>
            </a:xfrm>
            <a:prstGeom prst="rect">
              <a:avLst/>
            </a:prstGeom>
          </p:spPr>
        </p:pic>
        <p:pic>
          <p:nvPicPr>
            <p:cNvPr id="4" name="object 4">
              <a:extLst>
                <a:ext uri="{FF2B5EF4-FFF2-40B4-BE49-F238E27FC236}">
                  <a16:creationId xmlns:a16="http://schemas.microsoft.com/office/drawing/2014/main" id="{BB3A7342-A405-B6F1-906A-D58F4D3C8DE6}"/>
                </a:ext>
              </a:extLst>
            </p:cNvPr>
            <p:cNvPicPr/>
            <p:nvPr/>
          </p:nvPicPr>
          <p:blipFill>
            <a:blip r:embed="rId3" cstate="print"/>
            <a:stretch>
              <a:fillRect/>
            </a:stretch>
          </p:blipFill>
          <p:spPr>
            <a:xfrm>
              <a:off x="5406263" y="86817"/>
              <a:ext cx="1251369" cy="263956"/>
            </a:xfrm>
            <a:prstGeom prst="rect">
              <a:avLst/>
            </a:prstGeom>
          </p:spPr>
        </p:pic>
      </p:grpSp>
      <p:pic>
        <p:nvPicPr>
          <p:cNvPr id="106" name="object 106">
            <a:extLst>
              <a:ext uri="{FF2B5EF4-FFF2-40B4-BE49-F238E27FC236}">
                <a16:creationId xmlns:a16="http://schemas.microsoft.com/office/drawing/2014/main" id="{60E4832D-141D-64D3-ADDC-8D8EE2B24BC9}"/>
              </a:ext>
            </a:extLst>
          </p:cNvPr>
          <p:cNvPicPr/>
          <p:nvPr/>
        </p:nvPicPr>
        <p:blipFill>
          <a:blip r:embed="rId4" cstate="print"/>
          <a:stretch>
            <a:fillRect/>
          </a:stretch>
        </p:blipFill>
        <p:spPr>
          <a:xfrm>
            <a:off x="428720" y="6474360"/>
            <a:ext cx="171500" cy="193040"/>
          </a:xfrm>
          <a:prstGeom prst="rect">
            <a:avLst/>
          </a:prstGeom>
        </p:spPr>
      </p:pic>
      <p:sp>
        <p:nvSpPr>
          <p:cNvPr id="112" name="Rectangle 111">
            <a:extLst>
              <a:ext uri="{FF2B5EF4-FFF2-40B4-BE49-F238E27FC236}">
                <a16:creationId xmlns:a16="http://schemas.microsoft.com/office/drawing/2014/main" id="{DEA08998-2126-6249-04C8-A9C8D950A4F2}"/>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3" name="object 5">
            <a:extLst>
              <a:ext uri="{FF2B5EF4-FFF2-40B4-BE49-F238E27FC236}">
                <a16:creationId xmlns:a16="http://schemas.microsoft.com/office/drawing/2014/main" id="{1032E0A5-0D91-48B2-60D0-FA9E43B01C01}"/>
              </a:ext>
            </a:extLst>
          </p:cNvPr>
          <p:cNvPicPr/>
          <p:nvPr/>
        </p:nvPicPr>
        <p:blipFill>
          <a:blip r:embed="rId5" cstate="print"/>
          <a:stretch>
            <a:fillRect/>
          </a:stretch>
        </p:blipFill>
        <p:spPr>
          <a:xfrm>
            <a:off x="10524744" y="49275"/>
            <a:ext cx="1582928" cy="504953"/>
          </a:xfrm>
          <a:prstGeom prst="rect">
            <a:avLst/>
          </a:prstGeom>
        </p:spPr>
      </p:pic>
      <p:pic>
        <p:nvPicPr>
          <p:cNvPr id="114" name="object 3">
            <a:extLst>
              <a:ext uri="{FF2B5EF4-FFF2-40B4-BE49-F238E27FC236}">
                <a16:creationId xmlns:a16="http://schemas.microsoft.com/office/drawing/2014/main" id="{605E2FE9-505B-566E-37DE-C17A4BDBF2A8}"/>
              </a:ext>
            </a:extLst>
          </p:cNvPr>
          <p:cNvPicPr/>
          <p:nvPr/>
        </p:nvPicPr>
        <p:blipFill>
          <a:blip r:embed="rId2" cstate="print"/>
          <a:stretch>
            <a:fillRect/>
          </a:stretch>
        </p:blipFill>
        <p:spPr>
          <a:xfrm>
            <a:off x="164287" y="169773"/>
            <a:ext cx="5429377" cy="263956"/>
          </a:xfrm>
          <a:prstGeom prst="rect">
            <a:avLst/>
          </a:prstGeom>
        </p:spPr>
      </p:pic>
      <p:sp>
        <p:nvSpPr>
          <p:cNvPr id="108" name="TextBox 107">
            <a:extLst>
              <a:ext uri="{FF2B5EF4-FFF2-40B4-BE49-F238E27FC236}">
                <a16:creationId xmlns:a16="http://schemas.microsoft.com/office/drawing/2014/main" id="{61E03012-270E-1105-0B03-1359A09398ED}"/>
              </a:ext>
            </a:extLst>
          </p:cNvPr>
          <p:cNvSpPr txBox="1"/>
          <p:nvPr/>
        </p:nvSpPr>
        <p:spPr>
          <a:xfrm>
            <a:off x="428720" y="918698"/>
            <a:ext cx="10425208" cy="1448858"/>
          </a:xfrm>
          <a:prstGeom prst="rect">
            <a:avLst/>
          </a:prstGeom>
          <a:noFill/>
        </p:spPr>
        <p:txBody>
          <a:bodyPr wrap="square">
            <a:spAutoFit/>
          </a:bodyPr>
          <a:lstStyle/>
          <a:p>
            <a:pPr>
              <a:lnSpc>
                <a:spcPct val="115000"/>
              </a:lnSpc>
              <a:spcAft>
                <a:spcPts val="800"/>
              </a:spcAft>
              <a:buNone/>
            </a:pPr>
            <a:r>
              <a:rPr lang="en-IN" sz="1500" b="1" kern="100" dirty="0">
                <a:effectLst/>
                <a:latin typeface="Aptos" panose="020B0004020202020204" pitchFamily="34" charset="0"/>
                <a:ea typeface="Aptos" panose="020B0004020202020204" pitchFamily="34" charset="0"/>
                <a:cs typeface="Times New Roman" panose="02020603050405020304" pitchFamily="18" charset="0"/>
              </a:rPr>
              <a:t>Goal Management module</a:t>
            </a:r>
            <a:r>
              <a:rPr lang="en-IN" sz="1500" kern="100" dirty="0">
                <a:effectLst/>
                <a:latin typeface="Aptos" panose="020B0004020202020204" pitchFamily="34" charset="0"/>
                <a:ea typeface="Aptos" panose="020B0004020202020204" pitchFamily="34" charset="0"/>
                <a:cs typeface="Times New Roman" panose="02020603050405020304" pitchFamily="18" charset="0"/>
              </a:rPr>
              <a:t> in Tata Play Universe is designed to facilitate:</a:t>
            </a:r>
          </a:p>
          <a:p>
            <a:pPr marL="342900" lvl="0" indent="-342900">
              <a:lnSpc>
                <a:spcPct val="115000"/>
              </a:lnSpc>
              <a:spcAft>
                <a:spcPts val="800"/>
              </a:spcAft>
              <a:buSzPts val="1000"/>
              <a:buFont typeface="Symbol" panose="05050102010706020507" pitchFamily="18" charset="2"/>
              <a:buChar char=""/>
              <a:tabLst>
                <a:tab pos="457200" algn="l"/>
              </a:tabLst>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Setting performance goals and milestones for the financial year</a:t>
            </a:r>
          </a:p>
          <a:p>
            <a:pPr marL="342900" lvl="0" indent="-342900">
              <a:lnSpc>
                <a:spcPct val="115000"/>
              </a:lnSpc>
              <a:spcAft>
                <a:spcPts val="800"/>
              </a:spcAft>
              <a:buSzPts val="1000"/>
              <a:buFont typeface="Symbol" panose="05050102010706020507" pitchFamily="18" charset="2"/>
              <a:buChar char=""/>
              <a:tabLst>
                <a:tab pos="457200" algn="l"/>
              </a:tabLst>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Tracking and updating progress throughout the year</a:t>
            </a:r>
          </a:p>
          <a:p>
            <a:pPr marL="342900" lvl="0" indent="-342900">
              <a:lnSpc>
                <a:spcPct val="115000"/>
              </a:lnSpc>
              <a:spcAft>
                <a:spcPts val="800"/>
              </a:spcAft>
              <a:buSzPts val="1000"/>
              <a:buFont typeface="Symbol" panose="05050102010706020507" pitchFamily="18" charset="2"/>
              <a:buChar char=""/>
              <a:tabLst>
                <a:tab pos="457200" algn="l"/>
              </a:tabLst>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Submitting goals for managerial and reviewer approval</a:t>
            </a:r>
          </a:p>
        </p:txBody>
      </p:sp>
      <p:sp>
        <p:nvSpPr>
          <p:cNvPr id="110" name="TextBox 109">
            <a:extLst>
              <a:ext uri="{FF2B5EF4-FFF2-40B4-BE49-F238E27FC236}">
                <a16:creationId xmlns:a16="http://schemas.microsoft.com/office/drawing/2014/main" id="{C360004B-6747-DA3E-3FB2-A4266CB0940E}"/>
              </a:ext>
            </a:extLst>
          </p:cNvPr>
          <p:cNvSpPr txBox="1"/>
          <p:nvPr/>
        </p:nvSpPr>
        <p:spPr>
          <a:xfrm>
            <a:off x="514470" y="2604666"/>
            <a:ext cx="11006970" cy="3966214"/>
          </a:xfrm>
          <a:prstGeom prst="rect">
            <a:avLst/>
          </a:prstGeom>
          <a:noFill/>
        </p:spPr>
        <p:txBody>
          <a:bodyPr wrap="square">
            <a:spAutoFit/>
          </a:bodyPr>
          <a:lstStyle/>
          <a:p>
            <a:pPr>
              <a:lnSpc>
                <a:spcPct val="115000"/>
              </a:lnSpc>
              <a:spcBef>
                <a:spcPts val="2400"/>
              </a:spcBef>
              <a:buNone/>
            </a:pPr>
            <a:r>
              <a:rPr lang="en-US" sz="1500" b="1" kern="100" dirty="0">
                <a:latin typeface="Aptos" panose="020B0004020202020204" pitchFamily="34" charset="0"/>
                <a:cs typeface="Times New Roman" panose="02020603050405020304" pitchFamily="18" charset="0"/>
              </a:rPr>
              <a:t>Goal Management</a:t>
            </a:r>
            <a:endParaRPr lang="en-IN" sz="1500" b="1" kern="100" dirty="0">
              <a:latin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tabLst>
                <a:tab pos="228600" algn="l"/>
              </a:tabLst>
            </a:pPr>
            <a:r>
              <a:rPr lang="en-US" sz="1500" kern="100" dirty="0">
                <a:latin typeface="Aptos" panose="020B0004020202020204" pitchFamily="34" charset="0"/>
                <a:cs typeface="Times New Roman" panose="02020603050405020304" pitchFamily="18" charset="0"/>
              </a:rPr>
              <a:t>The Goal Management module is used for the purpose of Goal setting and monitoring the progress of these goals throughout the Financial year.</a:t>
            </a:r>
            <a:endParaRPr lang="en-IN" sz="1500" kern="100" dirty="0">
              <a:latin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tabLst>
                <a:tab pos="228600" algn="l"/>
              </a:tabLst>
            </a:pPr>
            <a:r>
              <a:rPr lang="en-US" sz="1500" kern="100" dirty="0">
                <a:latin typeface="Aptos" panose="020B0004020202020204" pitchFamily="34" charset="0"/>
                <a:cs typeface="Times New Roman" panose="02020603050405020304" pitchFamily="18" charset="0"/>
              </a:rPr>
              <a:t>Employees have to fill GOALS &amp; MILESTONES for the entire FY, along with start and end dates, weightages and submit to their manager/reviewer for approval.</a:t>
            </a:r>
            <a:endParaRPr lang="en-IN" sz="1500" kern="100" dirty="0">
              <a:latin typeface="Aptos" panose="020B000402020202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tabLst>
                <a:tab pos="228600" algn="l"/>
              </a:tabLst>
            </a:pPr>
            <a:r>
              <a:rPr lang="en-US" sz="1500" kern="100" dirty="0">
                <a:latin typeface="Aptos" panose="020B0004020202020204" pitchFamily="34" charset="0"/>
                <a:cs typeface="Times New Roman" panose="02020603050405020304" pitchFamily="18" charset="0"/>
              </a:rPr>
              <a:t>Progress of Goal can be updated/modified/added any time during the financial year using this Module.</a:t>
            </a:r>
            <a:endParaRPr lang="en-IN" sz="1500" kern="100" dirty="0">
              <a:latin typeface="Aptos" panose="020B0004020202020204" pitchFamily="34" charset="0"/>
              <a:cs typeface="Times New Roman" panose="02020603050405020304" pitchFamily="18" charset="0"/>
            </a:endParaRPr>
          </a:p>
          <a:p>
            <a:pPr>
              <a:lnSpc>
                <a:spcPct val="115000"/>
              </a:lnSpc>
              <a:spcBef>
                <a:spcPts val="2400"/>
              </a:spcBef>
              <a:buNone/>
            </a:pPr>
            <a:r>
              <a:rPr lang="en-US" sz="1500" b="1" kern="100" dirty="0">
                <a:latin typeface="Aptos" panose="020B0004020202020204" pitchFamily="34" charset="0"/>
                <a:cs typeface="Times New Roman" panose="02020603050405020304" pitchFamily="18" charset="0"/>
              </a:rPr>
              <a:t>Performance Management</a:t>
            </a:r>
            <a:endParaRPr lang="en-IN" sz="1500" b="1" kern="100" dirty="0">
              <a:latin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tabLst>
                <a:tab pos="228600" algn="l"/>
              </a:tabLst>
            </a:pPr>
            <a:r>
              <a:rPr lang="en-US" sz="1500" kern="100" dirty="0">
                <a:latin typeface="Aptos" panose="020B0004020202020204" pitchFamily="34" charset="0"/>
                <a:cs typeface="Times New Roman" panose="02020603050405020304" pitchFamily="18" charset="0"/>
              </a:rPr>
              <a:t>Employees under quarterly assessments will have 4 evaluation documents for the FY while employees with half yearly assessment will have 2 documents.</a:t>
            </a:r>
            <a:endParaRPr lang="en-IN" sz="1500" kern="100" dirty="0">
              <a:latin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tabLst>
                <a:tab pos="228600" algn="l"/>
              </a:tabLst>
            </a:pPr>
            <a:r>
              <a:rPr lang="en-US" sz="1500" kern="100" dirty="0">
                <a:latin typeface="Aptos" panose="020B0004020202020204" pitchFamily="34" charset="0"/>
                <a:cs typeface="Times New Roman" panose="02020603050405020304" pitchFamily="18" charset="0"/>
              </a:rPr>
              <a:t>Once goals are approved in Goal Management Module, they will be populated in "performance document" which are created at the beginning of each Quarterly/Half yearly cycle.</a:t>
            </a:r>
            <a:endParaRPr lang="en-IN" sz="1500" kern="100" dirty="0">
              <a:latin typeface="Aptos" panose="020B000402020202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tabLst>
                <a:tab pos="228600" algn="l"/>
              </a:tabLst>
            </a:pPr>
            <a:r>
              <a:rPr lang="en-US" sz="1500" kern="100" dirty="0">
                <a:latin typeface="Aptos" panose="020B0004020202020204" pitchFamily="34" charset="0"/>
                <a:cs typeface="Times New Roman" panose="02020603050405020304" pitchFamily="18" charset="0"/>
              </a:rPr>
              <a:t>All Active Goals in the Goal Management module at the time of creating Performance Document would be populated into the Performance documents. These include Goals with Zero Weightage.</a:t>
            </a:r>
            <a:endParaRPr lang="en-IN" sz="1500" kern="10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39041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AB605-1B63-101E-7983-0D2F25498D0C}"/>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997D5F63-EB13-79DE-8FC5-BB512F8AE031}"/>
              </a:ext>
            </a:extLst>
          </p:cNvPr>
          <p:cNvGrpSpPr/>
          <p:nvPr/>
        </p:nvGrpSpPr>
        <p:grpSpPr>
          <a:xfrm>
            <a:off x="0" y="0"/>
            <a:ext cx="12192000" cy="548640"/>
            <a:chOff x="0" y="0"/>
            <a:chExt cx="9144000" cy="411480"/>
          </a:xfrm>
        </p:grpSpPr>
        <p:pic>
          <p:nvPicPr>
            <p:cNvPr id="3" name="object 3">
              <a:extLst>
                <a:ext uri="{FF2B5EF4-FFF2-40B4-BE49-F238E27FC236}">
                  <a16:creationId xmlns:a16="http://schemas.microsoft.com/office/drawing/2014/main" id="{1AA1431E-2BEB-92D8-717A-AEAD7E5E00BB}"/>
                </a:ext>
              </a:extLst>
            </p:cNvPr>
            <p:cNvPicPr/>
            <p:nvPr/>
          </p:nvPicPr>
          <p:blipFill>
            <a:blip r:embed="rId2" cstate="print"/>
            <a:stretch>
              <a:fillRect/>
            </a:stretch>
          </p:blipFill>
          <p:spPr>
            <a:xfrm>
              <a:off x="100279" y="86817"/>
              <a:ext cx="5429377" cy="263956"/>
            </a:xfrm>
            <a:prstGeom prst="rect">
              <a:avLst/>
            </a:prstGeom>
          </p:spPr>
        </p:pic>
        <p:pic>
          <p:nvPicPr>
            <p:cNvPr id="4" name="object 4">
              <a:extLst>
                <a:ext uri="{FF2B5EF4-FFF2-40B4-BE49-F238E27FC236}">
                  <a16:creationId xmlns:a16="http://schemas.microsoft.com/office/drawing/2014/main" id="{D4A8DC31-2B1C-2003-D6F6-455B765D6975}"/>
                </a:ext>
              </a:extLst>
            </p:cNvPr>
            <p:cNvPicPr/>
            <p:nvPr/>
          </p:nvPicPr>
          <p:blipFill>
            <a:blip r:embed="rId3" cstate="print"/>
            <a:stretch>
              <a:fillRect/>
            </a:stretch>
          </p:blipFill>
          <p:spPr>
            <a:xfrm>
              <a:off x="5406263" y="86817"/>
              <a:ext cx="1251369" cy="263956"/>
            </a:xfrm>
            <a:prstGeom prst="rect">
              <a:avLst/>
            </a:prstGeom>
          </p:spPr>
        </p:pic>
      </p:grpSp>
      <p:pic>
        <p:nvPicPr>
          <p:cNvPr id="106" name="object 106">
            <a:extLst>
              <a:ext uri="{FF2B5EF4-FFF2-40B4-BE49-F238E27FC236}">
                <a16:creationId xmlns:a16="http://schemas.microsoft.com/office/drawing/2014/main" id="{21661B21-F207-9B22-7495-6429E2D07A37}"/>
              </a:ext>
            </a:extLst>
          </p:cNvPr>
          <p:cNvPicPr/>
          <p:nvPr/>
        </p:nvPicPr>
        <p:blipFill>
          <a:blip r:embed="rId4" cstate="print"/>
          <a:stretch>
            <a:fillRect/>
          </a:stretch>
        </p:blipFill>
        <p:spPr>
          <a:xfrm>
            <a:off x="428720" y="6474360"/>
            <a:ext cx="171500" cy="193040"/>
          </a:xfrm>
          <a:prstGeom prst="rect">
            <a:avLst/>
          </a:prstGeom>
        </p:spPr>
      </p:pic>
      <p:sp>
        <p:nvSpPr>
          <p:cNvPr id="112" name="Rectangle 111">
            <a:extLst>
              <a:ext uri="{FF2B5EF4-FFF2-40B4-BE49-F238E27FC236}">
                <a16:creationId xmlns:a16="http://schemas.microsoft.com/office/drawing/2014/main" id="{3C6F9856-824D-B80B-5665-A1DC7252E4CD}"/>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3" name="object 5">
            <a:extLst>
              <a:ext uri="{FF2B5EF4-FFF2-40B4-BE49-F238E27FC236}">
                <a16:creationId xmlns:a16="http://schemas.microsoft.com/office/drawing/2014/main" id="{20ECE37E-EB82-373C-1DFE-B9E34373B14C}"/>
              </a:ext>
            </a:extLst>
          </p:cNvPr>
          <p:cNvPicPr/>
          <p:nvPr/>
        </p:nvPicPr>
        <p:blipFill>
          <a:blip r:embed="rId5" cstate="print"/>
          <a:stretch>
            <a:fillRect/>
          </a:stretch>
        </p:blipFill>
        <p:spPr>
          <a:xfrm>
            <a:off x="10524744" y="49275"/>
            <a:ext cx="1582928" cy="504953"/>
          </a:xfrm>
          <a:prstGeom prst="rect">
            <a:avLst/>
          </a:prstGeom>
        </p:spPr>
      </p:pic>
      <p:pic>
        <p:nvPicPr>
          <p:cNvPr id="114" name="object 3">
            <a:extLst>
              <a:ext uri="{FF2B5EF4-FFF2-40B4-BE49-F238E27FC236}">
                <a16:creationId xmlns:a16="http://schemas.microsoft.com/office/drawing/2014/main" id="{5E6C402A-075B-9128-2C8C-E6634D61727E}"/>
              </a:ext>
            </a:extLst>
          </p:cNvPr>
          <p:cNvPicPr/>
          <p:nvPr/>
        </p:nvPicPr>
        <p:blipFill>
          <a:blip r:embed="rId2" cstate="print"/>
          <a:stretch>
            <a:fillRect/>
          </a:stretch>
        </p:blipFill>
        <p:spPr>
          <a:xfrm>
            <a:off x="164287" y="169773"/>
            <a:ext cx="5429377" cy="263956"/>
          </a:xfrm>
          <a:prstGeom prst="rect">
            <a:avLst/>
          </a:prstGeom>
        </p:spPr>
      </p:pic>
      <p:sp>
        <p:nvSpPr>
          <p:cNvPr id="110" name="TextBox 109">
            <a:extLst>
              <a:ext uri="{FF2B5EF4-FFF2-40B4-BE49-F238E27FC236}">
                <a16:creationId xmlns:a16="http://schemas.microsoft.com/office/drawing/2014/main" id="{DC35B558-3D7C-C451-FEF9-E6BC814E45A7}"/>
              </a:ext>
            </a:extLst>
          </p:cNvPr>
          <p:cNvSpPr txBox="1"/>
          <p:nvPr/>
        </p:nvSpPr>
        <p:spPr>
          <a:xfrm>
            <a:off x="309238" y="839874"/>
            <a:ext cx="11006970" cy="5252785"/>
          </a:xfrm>
          <a:prstGeom prst="rect">
            <a:avLst/>
          </a:prstGeom>
          <a:noFill/>
        </p:spPr>
        <p:txBody>
          <a:bodyPr wrap="square">
            <a:spAutoFit/>
          </a:bodyPr>
          <a:lstStyle/>
          <a:p>
            <a:pPr>
              <a:lnSpc>
                <a:spcPct val="150000"/>
              </a:lnSpc>
            </a:pPr>
            <a:r>
              <a:rPr lang="en-US" sz="1500" b="1" kern="100" dirty="0">
                <a:latin typeface="Aptos" panose="020B0004020202020204" pitchFamily="34" charset="0"/>
                <a:cs typeface="Times New Roman" panose="02020603050405020304" pitchFamily="18" charset="0"/>
              </a:rPr>
              <a:t>Performance Management: Highlights</a:t>
            </a:r>
            <a:endParaRPr lang="en-IN" sz="1500" b="1" kern="100" dirty="0">
              <a:latin typeface="Aptos" panose="020B0004020202020204" pitchFamily="34"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500" kern="100" dirty="0">
                <a:latin typeface="Aptos" panose="020B0004020202020204" pitchFamily="34" charset="0"/>
                <a:cs typeface="Times New Roman" panose="02020603050405020304" pitchFamily="18" charset="0"/>
              </a:rPr>
              <a:t>'Self Rating' at employee assessment stage on KRA's against the 5 point rating scale.</a:t>
            </a:r>
            <a:endParaRPr lang="en-IN" sz="1500" kern="100" dirty="0">
              <a:latin typeface="Aptos" panose="020B0004020202020204" pitchFamily="34"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500" kern="100" dirty="0">
                <a:latin typeface="Aptos" panose="020B0004020202020204" pitchFamily="34" charset="0"/>
                <a:cs typeface="Times New Roman" panose="02020603050405020304" pitchFamily="18" charset="0"/>
              </a:rPr>
              <a:t>Employees are required to update their achievements for each goal &amp; milestone in "employee comments" section, relevant for the performance period (quarterly/half year as applicable).</a:t>
            </a:r>
            <a:endParaRPr lang="en-IN" sz="1500" kern="100" dirty="0">
              <a:latin typeface="Aptos" panose="020B0004020202020204" pitchFamily="34"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500" kern="100" dirty="0">
                <a:latin typeface="Aptos" panose="020B0004020202020204" pitchFamily="34" charset="0"/>
                <a:cs typeface="Times New Roman" panose="02020603050405020304" pitchFamily="18" charset="0"/>
              </a:rPr>
              <a:t>Post Manager's evaluation, the performance document would be reviewed by the Manager's Manager (Reviewer) before it is reviewed by the Region's Head/Chief of Function.</a:t>
            </a:r>
            <a:endParaRPr lang="en-IN" sz="1500" kern="100" dirty="0">
              <a:latin typeface="Aptos" panose="020B0004020202020204" pitchFamily="34"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500" kern="100" dirty="0">
                <a:latin typeface="Aptos" panose="020B0004020202020204" pitchFamily="34" charset="0"/>
                <a:cs typeface="Times New Roman" panose="02020603050405020304" pitchFamily="18" charset="0"/>
              </a:rPr>
              <a:t>The finalized ratings would be made visible to employees as soon as the review cycle is closed.</a:t>
            </a:r>
            <a:endParaRPr lang="en-IN" sz="1500" kern="100" dirty="0">
              <a:latin typeface="Aptos" panose="020B0004020202020204" pitchFamily="34"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500" kern="100" dirty="0">
                <a:latin typeface="Aptos" panose="020B0004020202020204" pitchFamily="34" charset="0"/>
                <a:cs typeface="Times New Roman" panose="02020603050405020304" pitchFamily="18" charset="0"/>
              </a:rPr>
              <a:t>NOTE: While the GOAL Management Module will give an overview of Goals for the year, the PERFORMANCE DOCUMENTS (Quarterly and Half yearly) will be treated as final for the purpose of ratings.</a:t>
            </a:r>
          </a:p>
          <a:p>
            <a:pPr marL="285750" lvl="0" indent="-285750">
              <a:lnSpc>
                <a:spcPct val="150000"/>
              </a:lnSpc>
              <a:buFont typeface="Arial" panose="020B0604020202020204" pitchFamily="34" charset="0"/>
              <a:buChar char="•"/>
            </a:pPr>
            <a:endParaRPr lang="en-US" sz="1500" kern="100" dirty="0">
              <a:latin typeface="Aptos" panose="020B0004020202020204" pitchFamily="34" charset="0"/>
              <a:cs typeface="Times New Roman" panose="02020603050405020304" pitchFamily="18" charset="0"/>
            </a:endParaRPr>
          </a:p>
          <a:p>
            <a:pPr marL="285750" lvl="0" indent="-285750">
              <a:lnSpc>
                <a:spcPct val="150000"/>
              </a:lnSpc>
              <a:buFont typeface="Arial" panose="020B0604020202020204" pitchFamily="34" charset="0"/>
              <a:buChar char="•"/>
            </a:pPr>
            <a:endParaRPr lang="en-US" sz="1500" kern="100" dirty="0">
              <a:latin typeface="Aptos" panose="020B0004020202020204" pitchFamily="34" charset="0"/>
              <a:cs typeface="Times New Roman" panose="02020603050405020304" pitchFamily="18" charset="0"/>
            </a:endParaRPr>
          </a:p>
          <a:p>
            <a:pPr>
              <a:lnSpc>
                <a:spcPct val="150000"/>
              </a:lnSpc>
            </a:pPr>
            <a:r>
              <a:rPr lang="en-GB" sz="1500" b="1" kern="100" dirty="0">
                <a:latin typeface="Aptos" panose="020B0004020202020204" pitchFamily="34" charset="0"/>
                <a:cs typeface="Times New Roman" panose="02020603050405020304" pitchFamily="18" charset="0"/>
              </a:rPr>
              <a:t>Changes to goals before appraisal process</a:t>
            </a:r>
          </a:p>
          <a:p>
            <a:pPr>
              <a:lnSpc>
                <a:spcPct val="150000"/>
              </a:lnSpc>
            </a:pPr>
            <a:r>
              <a:rPr lang="en-GB" sz="1500" kern="100" dirty="0">
                <a:latin typeface="Aptos" panose="020B0004020202020204" pitchFamily="34" charset="0"/>
                <a:cs typeface="Times New Roman" panose="02020603050405020304" pitchFamily="18" charset="0"/>
              </a:rPr>
              <a:t> If a goal needs to be added or modified it can be done in the performance document itself, changes to the weightages should be done in the performance document itself</a:t>
            </a:r>
            <a:endParaRPr lang="en-IN" sz="1500" kern="100" dirty="0">
              <a:latin typeface="Aptos" panose="020B0004020202020204" pitchFamily="34" charset="0"/>
              <a:cs typeface="Times New Roman" panose="02020603050405020304" pitchFamily="18" charset="0"/>
            </a:endParaRPr>
          </a:p>
          <a:p>
            <a:pPr marL="285750" lvl="0" indent="-285750">
              <a:lnSpc>
                <a:spcPct val="150000"/>
              </a:lnSpc>
              <a:buFont typeface="Arial" panose="020B0604020202020204" pitchFamily="34" charset="0"/>
              <a:buChar char="•"/>
            </a:pPr>
            <a:endParaRPr lang="en-IN" sz="1500" kern="10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8503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EE219-1370-8245-E4E4-DC56669BDA14}"/>
              </a:ext>
            </a:extLst>
          </p:cNvPr>
          <p:cNvSpPr>
            <a:spLocks noGrp="1"/>
          </p:cNvSpPr>
          <p:nvPr/>
        </p:nvSpPr>
        <p:spPr bwMode="auto">
          <a:xfrm>
            <a:off x="306727" y="322490"/>
            <a:ext cx="8421687"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xmlns:lc="http://schemas.openxmlformats.org/drawingml/2006/lockedCanvas" val="1"/>
            </a:ext>
          </a:extLst>
        </p:spPr>
        <p:txBody>
          <a:bodyPr vert="horz" wrap="square" lIns="91425" tIns="91425" rIns="91425" bIns="91425" numCol="1" anchor="t" anchorCtr="0" compatLnSpc="1">
            <a:prstTxWarp prst="textNoShape">
              <a:avLst/>
            </a:prstTxWarp>
          </a:bodyPr>
          <a:lstStyle>
            <a:defPPr marR="0" lvl="0" algn="l" rtl="0">
              <a:lnSpc>
                <a:spcPct val="100000"/>
              </a:lnSpc>
              <a:spcBef>
                <a:spcPts val="0"/>
              </a:spcBef>
              <a:spcAft>
                <a:spcPts val="0"/>
              </a:spcAft>
            </a:defPPr>
            <a:lvl1pPr lvl="0" algn="ctr" rtl="0" eaLnBrk="0" fontAlgn="base" hangingPunct="0">
              <a:spcBef>
                <a:spcPts val="0"/>
              </a:spcBef>
              <a:spcAft>
                <a:spcPct val="0"/>
              </a:spcAft>
              <a:buClr>
                <a:srgbClr val="FFFFFF"/>
              </a:buClr>
              <a:buSzPct val="100000"/>
              <a:buFont typeface="Tahoma"/>
              <a:defRPr sz="3400" b="0" i="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algn="l" rtl="0" eaLnBrk="0" fontAlgn="base" hangingPunct="0">
              <a:spcBef>
                <a:spcPts val="0"/>
              </a:spcBef>
              <a:spcAft>
                <a:spcPct val="0"/>
              </a:spcAft>
              <a:defRPr sz="1000">
                <a:solidFill>
                  <a:schemeClr val="bg2"/>
                </a:solidFill>
                <a:latin typeface="Ubuntu" charset="0"/>
                <a:ea typeface="Ubuntu" charset="0"/>
                <a:cs typeface="Ubuntu" charset="0"/>
                <a:sym typeface="Arial" charset="0"/>
              </a:defRPr>
            </a:lvl2pPr>
            <a:lvl3pPr lvl="2" algn="l" rtl="0" eaLnBrk="0" fontAlgn="base" hangingPunct="0">
              <a:spcBef>
                <a:spcPts val="0"/>
              </a:spcBef>
              <a:spcAft>
                <a:spcPct val="0"/>
              </a:spcAft>
              <a:defRPr sz="1000">
                <a:solidFill>
                  <a:schemeClr val="bg2"/>
                </a:solidFill>
                <a:latin typeface="Ubuntu" charset="0"/>
                <a:ea typeface="Ubuntu" charset="0"/>
                <a:cs typeface="Ubuntu" charset="0"/>
                <a:sym typeface="Arial" charset="0"/>
              </a:defRPr>
            </a:lvl3pPr>
            <a:lvl4pPr lvl="3" algn="l" rtl="0" eaLnBrk="0" fontAlgn="base" hangingPunct="0">
              <a:spcBef>
                <a:spcPts val="0"/>
              </a:spcBef>
              <a:spcAft>
                <a:spcPct val="0"/>
              </a:spcAft>
              <a:defRPr sz="1000">
                <a:solidFill>
                  <a:schemeClr val="bg2"/>
                </a:solidFill>
                <a:latin typeface="Ubuntu" charset="0"/>
                <a:ea typeface="Ubuntu" charset="0"/>
                <a:cs typeface="Ubuntu" charset="0"/>
                <a:sym typeface="Arial" charset="0"/>
              </a:defRPr>
            </a:lvl4pPr>
            <a:lvl5pPr lvl="4" algn="l" rtl="0" eaLnBrk="0" fontAlgn="base" hangingPunct="0">
              <a:spcBef>
                <a:spcPts val="0"/>
              </a:spcBef>
              <a:spcAft>
                <a:spcPct val="0"/>
              </a:spcAft>
              <a:defRPr sz="1000">
                <a:solidFill>
                  <a:schemeClr val="bg2"/>
                </a:solidFill>
                <a:latin typeface="Ubuntu" charset="0"/>
                <a:ea typeface="Ubuntu" charset="0"/>
                <a:cs typeface="Ubuntu" charset="0"/>
                <a:sym typeface="Arial" charset="0"/>
              </a:defRPr>
            </a:lvl5pPr>
            <a:lvl6pPr marL="457200" lvl="5" algn="l" rtl="0" eaLnBrk="0" fontAlgn="base" hangingPunct="0">
              <a:spcBef>
                <a:spcPts val="0"/>
              </a:spcBef>
              <a:spcAft>
                <a:spcPct val="0"/>
              </a:spcAft>
              <a:defRPr sz="1000">
                <a:solidFill>
                  <a:schemeClr val="bg2"/>
                </a:solidFill>
                <a:latin typeface="Ubuntu" charset="0"/>
                <a:ea typeface="Ubuntu" charset="0"/>
                <a:cs typeface="Ubuntu" charset="0"/>
                <a:sym typeface="Arial" charset="0"/>
              </a:defRPr>
            </a:lvl6pPr>
            <a:lvl7pPr marL="914400" lvl="6" algn="l" rtl="0" eaLnBrk="0" fontAlgn="base" hangingPunct="0">
              <a:spcBef>
                <a:spcPts val="0"/>
              </a:spcBef>
              <a:spcAft>
                <a:spcPct val="0"/>
              </a:spcAft>
              <a:defRPr sz="1000">
                <a:solidFill>
                  <a:schemeClr val="bg2"/>
                </a:solidFill>
                <a:latin typeface="Ubuntu" charset="0"/>
                <a:ea typeface="Ubuntu" charset="0"/>
                <a:cs typeface="Ubuntu" charset="0"/>
                <a:sym typeface="Arial" charset="0"/>
              </a:defRPr>
            </a:lvl7pPr>
            <a:lvl8pPr marL="1371600" lvl="7" algn="l" rtl="0" eaLnBrk="0" fontAlgn="base" hangingPunct="0">
              <a:spcBef>
                <a:spcPts val="0"/>
              </a:spcBef>
              <a:spcAft>
                <a:spcPct val="0"/>
              </a:spcAft>
              <a:defRPr sz="1000">
                <a:solidFill>
                  <a:schemeClr val="bg2"/>
                </a:solidFill>
                <a:latin typeface="Ubuntu" charset="0"/>
                <a:ea typeface="Ubuntu" charset="0"/>
                <a:cs typeface="Ubuntu" charset="0"/>
                <a:sym typeface="Arial" charset="0"/>
              </a:defRPr>
            </a:lvl8pPr>
            <a:lvl9pPr marL="1828800" lvl="8" algn="l" rtl="0" eaLnBrk="0" fontAlgn="base" hangingPunct="0">
              <a:spcBef>
                <a:spcPts val="0"/>
              </a:spcBef>
              <a:spcAft>
                <a:spcPct val="0"/>
              </a:spcAft>
              <a:defRPr sz="1000">
                <a:solidFill>
                  <a:schemeClr val="bg2"/>
                </a:solidFill>
                <a:latin typeface="Ubuntu" charset="0"/>
                <a:ea typeface="Ubuntu" charset="0"/>
                <a:cs typeface="Ubuntu" charset="0"/>
                <a:sym typeface="Arial" charset="0"/>
              </a:defRPr>
            </a:lvl9pPr>
          </a:lstStyle>
          <a:p>
            <a:pPr algn="l"/>
            <a:endParaRPr lang="en-GB" sz="2400" dirty="0"/>
          </a:p>
        </p:txBody>
      </p:sp>
      <p:pic>
        <p:nvPicPr>
          <p:cNvPr id="1026" name="Picture 2">
            <a:extLst>
              <a:ext uri="{FF2B5EF4-FFF2-40B4-BE49-F238E27FC236}">
                <a16:creationId xmlns:a16="http://schemas.microsoft.com/office/drawing/2014/main" id="{1D79E690-0B8E-1216-20A2-3DA6379D8D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839" y="1166812"/>
            <a:ext cx="3028950" cy="45243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Diagram 5">
            <a:extLst>
              <a:ext uri="{FF2B5EF4-FFF2-40B4-BE49-F238E27FC236}">
                <a16:creationId xmlns:a16="http://schemas.microsoft.com/office/drawing/2014/main" id="{5D5D2D6E-3D7C-E9D0-66E9-61568F58FBC2}"/>
              </a:ext>
            </a:extLst>
          </p:cNvPr>
          <p:cNvGraphicFramePr/>
          <p:nvPr>
            <p:extLst>
              <p:ext uri="{D42A27DB-BD31-4B8C-83A1-F6EECF244321}">
                <p14:modId xmlns:p14="http://schemas.microsoft.com/office/powerpoint/2010/main" val="2320654691"/>
              </p:ext>
            </p:extLst>
          </p:nvPr>
        </p:nvGraphicFramePr>
        <p:xfrm>
          <a:off x="4659474" y="1166812"/>
          <a:ext cx="4462755" cy="4433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1">
            <a:extLst>
              <a:ext uri="{FF2B5EF4-FFF2-40B4-BE49-F238E27FC236}">
                <a16:creationId xmlns:a16="http://schemas.microsoft.com/office/drawing/2014/main" id="{FDD99897-A449-40FA-796A-F917735B861A}"/>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object 5">
            <a:extLst>
              <a:ext uri="{FF2B5EF4-FFF2-40B4-BE49-F238E27FC236}">
                <a16:creationId xmlns:a16="http://schemas.microsoft.com/office/drawing/2014/main" id="{33B8C355-1495-DF6F-EF43-F8B9754619E2}"/>
              </a:ext>
            </a:extLst>
          </p:cNvPr>
          <p:cNvPicPr/>
          <p:nvPr/>
        </p:nvPicPr>
        <p:blipFill>
          <a:blip r:embed="rId8" cstate="print"/>
          <a:stretch>
            <a:fillRect/>
          </a:stretch>
        </p:blipFill>
        <p:spPr>
          <a:xfrm>
            <a:off x="10524744" y="49275"/>
            <a:ext cx="1582928" cy="504953"/>
          </a:xfrm>
          <a:prstGeom prst="rect">
            <a:avLst/>
          </a:prstGeom>
        </p:spPr>
      </p:pic>
      <p:sp>
        <p:nvSpPr>
          <p:cNvPr id="9" name="TextBox 8">
            <a:extLst>
              <a:ext uri="{FF2B5EF4-FFF2-40B4-BE49-F238E27FC236}">
                <a16:creationId xmlns:a16="http://schemas.microsoft.com/office/drawing/2014/main" id="{7761CE23-2F09-E724-1990-6DA7036EB256}"/>
              </a:ext>
            </a:extLst>
          </p:cNvPr>
          <p:cNvSpPr txBox="1"/>
          <p:nvPr/>
        </p:nvSpPr>
        <p:spPr>
          <a:xfrm>
            <a:off x="84328" y="104156"/>
            <a:ext cx="3195425" cy="369332"/>
          </a:xfrm>
          <a:prstGeom prst="rect">
            <a:avLst/>
          </a:prstGeom>
          <a:noFill/>
        </p:spPr>
        <p:txBody>
          <a:bodyPr wrap="square" rtlCol="0">
            <a:spAutoFit/>
          </a:bodyPr>
          <a:lstStyle/>
          <a:p>
            <a:r>
              <a:rPr lang="en-GB" b="1" dirty="0">
                <a:solidFill>
                  <a:schemeClr val="bg1"/>
                </a:solidFill>
              </a:rPr>
              <a:t>Process</a:t>
            </a:r>
            <a:endParaRPr lang="en-IN" b="1" dirty="0">
              <a:solidFill>
                <a:schemeClr val="bg1"/>
              </a:solidFill>
            </a:endParaRPr>
          </a:p>
        </p:txBody>
      </p:sp>
    </p:spTree>
    <p:extLst>
      <p:ext uri="{BB962C8B-B14F-4D97-AF65-F5344CB8AC3E}">
        <p14:creationId xmlns:p14="http://schemas.microsoft.com/office/powerpoint/2010/main" val="3329357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8114" name="Picture 2" descr="14H00493"/>
          <p:cNvPicPr>
            <a:picLocks noChangeAspect="1" noChangeArrowheads="1"/>
          </p:cNvPicPr>
          <p:nvPr/>
        </p:nvPicPr>
        <p:blipFill>
          <a:blip r:embed="rId3" cstate="print"/>
          <a:srcRect/>
          <a:stretch>
            <a:fillRect/>
          </a:stretch>
        </p:blipFill>
        <p:spPr bwMode="auto">
          <a:xfrm>
            <a:off x="0" y="0"/>
            <a:ext cx="12192000" cy="6858000"/>
          </a:xfrm>
          <a:prstGeom prst="rect">
            <a:avLst/>
          </a:prstGeom>
          <a:noFill/>
        </p:spPr>
      </p:pic>
      <p:sp>
        <p:nvSpPr>
          <p:cNvPr id="858115" name="Freeform 3"/>
          <p:cNvSpPr>
            <a:spLocks/>
          </p:cNvSpPr>
          <p:nvPr/>
        </p:nvSpPr>
        <p:spPr bwMode="auto">
          <a:xfrm>
            <a:off x="1242557" y="3581403"/>
            <a:ext cx="7017588" cy="1246188"/>
          </a:xfrm>
          <a:custGeom>
            <a:avLst/>
            <a:gdLst/>
            <a:ahLst/>
            <a:cxnLst>
              <a:cxn ang="0">
                <a:pos x="4888" y="0"/>
              </a:cxn>
              <a:cxn ang="0">
                <a:pos x="0" y="1"/>
              </a:cxn>
              <a:cxn ang="0">
                <a:pos x="0" y="865"/>
              </a:cxn>
              <a:cxn ang="0">
                <a:pos x="4718" y="865"/>
              </a:cxn>
              <a:cxn ang="0">
                <a:pos x="4888" y="0"/>
              </a:cxn>
            </a:cxnLst>
            <a:rect l="0" t="0" r="r" b="b"/>
            <a:pathLst>
              <a:path w="4888" h="865">
                <a:moveTo>
                  <a:pt x="4888" y="0"/>
                </a:moveTo>
                <a:lnTo>
                  <a:pt x="0" y="1"/>
                </a:lnTo>
                <a:lnTo>
                  <a:pt x="0" y="865"/>
                </a:lnTo>
                <a:lnTo>
                  <a:pt x="4718" y="865"/>
                </a:lnTo>
                <a:lnTo>
                  <a:pt x="4888" y="0"/>
                </a:lnTo>
                <a:close/>
              </a:path>
            </a:pathLst>
          </a:custGeom>
          <a:solidFill>
            <a:schemeClr val="tx1"/>
          </a:solidFill>
          <a:ln w="9525">
            <a:noFill/>
            <a:round/>
            <a:headEnd/>
            <a:tailEnd/>
          </a:ln>
          <a:effectLst/>
        </p:spPr>
        <p:txBody>
          <a:bodyPr lIns="90113" tIns="45057" rIns="90113" bIns="45057"/>
          <a:lstStyle/>
          <a:p>
            <a:pPr defTabSz="826061"/>
            <a:endParaRPr lang="en-US" sz="1265" dirty="0"/>
          </a:p>
        </p:txBody>
      </p:sp>
      <p:sp>
        <p:nvSpPr>
          <p:cNvPr id="858116" name="Text Box 4"/>
          <p:cNvSpPr txBox="1">
            <a:spLocks noChangeArrowheads="1"/>
          </p:cNvSpPr>
          <p:nvPr/>
        </p:nvSpPr>
        <p:spPr bwMode="auto">
          <a:xfrm>
            <a:off x="1691807" y="3997327"/>
            <a:ext cx="4418136" cy="528637"/>
          </a:xfrm>
          <a:prstGeom prst="rect">
            <a:avLst/>
          </a:prstGeom>
          <a:noFill/>
          <a:ln w="9525">
            <a:noFill/>
            <a:miter lim="800000"/>
            <a:headEnd/>
            <a:tailEnd/>
          </a:ln>
          <a:effectLst/>
        </p:spPr>
        <p:txBody>
          <a:bodyPr lIns="82772" tIns="41385" rIns="82772" bIns="41385">
            <a:spAutoFit/>
          </a:bodyPr>
          <a:lstStyle/>
          <a:p>
            <a:pPr defTabSz="943391">
              <a:spcBef>
                <a:spcPct val="50000"/>
              </a:spcBef>
            </a:pPr>
            <a:r>
              <a:rPr lang="en-US" sz="2892" b="1" i="1" dirty="0">
                <a:solidFill>
                  <a:schemeClr val="bg2"/>
                </a:solidFill>
                <a:latin typeface="EYInterstate Light" panose="02000506000000020004" pitchFamily="2" charset="0"/>
              </a:rPr>
              <a:t>Employee Related Tasks</a:t>
            </a:r>
            <a:endParaRPr lang="en-US" sz="2892" i="1" dirty="0">
              <a:solidFill>
                <a:schemeClr val="bg2"/>
              </a:solidFill>
              <a:latin typeface="EYInterstate Light" panose="02000506000000020004" pitchFamily="2" charset="0"/>
            </a:endParaRPr>
          </a:p>
        </p:txBody>
      </p:sp>
    </p:spTree>
    <p:extLst>
      <p:ext uri="{BB962C8B-B14F-4D97-AF65-F5344CB8AC3E}">
        <p14:creationId xmlns:p14="http://schemas.microsoft.com/office/powerpoint/2010/main" val="3287384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0ADA-5871-EFCF-1683-6A330C53893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06CCDE4-530C-B884-B3E4-4CFC56DB86E5}"/>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object 5">
            <a:extLst>
              <a:ext uri="{FF2B5EF4-FFF2-40B4-BE49-F238E27FC236}">
                <a16:creationId xmlns:a16="http://schemas.microsoft.com/office/drawing/2014/main" id="{5D3FB9B9-A9DB-019B-4EC6-58954DEBF008}"/>
              </a:ext>
            </a:extLst>
          </p:cNvPr>
          <p:cNvPicPr/>
          <p:nvPr/>
        </p:nvPicPr>
        <p:blipFill>
          <a:blip r:embed="rId2" cstate="print"/>
          <a:stretch>
            <a:fillRect/>
          </a:stretch>
        </p:blipFill>
        <p:spPr>
          <a:xfrm>
            <a:off x="10524744" y="49275"/>
            <a:ext cx="1582928" cy="504953"/>
          </a:xfrm>
          <a:prstGeom prst="rect">
            <a:avLst/>
          </a:prstGeom>
        </p:spPr>
      </p:pic>
      <p:sp>
        <p:nvSpPr>
          <p:cNvPr id="10" name="TextBox 9">
            <a:extLst>
              <a:ext uri="{FF2B5EF4-FFF2-40B4-BE49-F238E27FC236}">
                <a16:creationId xmlns:a16="http://schemas.microsoft.com/office/drawing/2014/main" id="{F7C3A549-C818-20AA-5F82-1270CC596BED}"/>
              </a:ext>
            </a:extLst>
          </p:cNvPr>
          <p:cNvSpPr txBox="1"/>
          <p:nvPr/>
        </p:nvSpPr>
        <p:spPr>
          <a:xfrm>
            <a:off x="84328" y="104157"/>
            <a:ext cx="9068816" cy="369332"/>
          </a:xfrm>
          <a:prstGeom prst="rect">
            <a:avLst/>
          </a:prstGeom>
          <a:noFill/>
        </p:spPr>
        <p:txBody>
          <a:bodyPr wrap="square" rtlCol="0">
            <a:spAutoFit/>
          </a:bodyPr>
          <a:lstStyle/>
          <a:p>
            <a:r>
              <a:rPr lang="en-GB" b="1" dirty="0">
                <a:solidFill>
                  <a:schemeClr val="bg1"/>
                </a:solidFill>
              </a:rPr>
              <a:t>Employee Self Evaluation – Process Workflow</a:t>
            </a:r>
            <a:endParaRPr lang="en-IN" b="1" dirty="0">
              <a:solidFill>
                <a:schemeClr val="bg1"/>
              </a:solidFill>
            </a:endParaRPr>
          </a:p>
        </p:txBody>
      </p:sp>
      <p:sp>
        <p:nvSpPr>
          <p:cNvPr id="4" name="TextBox 3">
            <a:extLst>
              <a:ext uri="{FF2B5EF4-FFF2-40B4-BE49-F238E27FC236}">
                <a16:creationId xmlns:a16="http://schemas.microsoft.com/office/drawing/2014/main" id="{8BBDF900-67BD-E0C8-B47E-E04A16597DE2}"/>
              </a:ext>
            </a:extLst>
          </p:cNvPr>
          <p:cNvSpPr txBox="1"/>
          <p:nvPr/>
        </p:nvSpPr>
        <p:spPr>
          <a:xfrm>
            <a:off x="428870" y="1005400"/>
            <a:ext cx="10461634" cy="3795654"/>
          </a:xfrm>
          <a:prstGeom prst="rect">
            <a:avLst/>
          </a:prstGeom>
          <a:noFill/>
        </p:spPr>
        <p:txBody>
          <a:bodyPr wrap="square">
            <a:spAutoFit/>
          </a:bodyPr>
          <a:lstStyle/>
          <a:p>
            <a:pPr marL="228600" lvl="0" indent="-22860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Login to the system and go to:</a:t>
            </a:r>
            <a:br>
              <a:rPr lang="en-IN" sz="1500" kern="100" dirty="0">
                <a:effectLst/>
                <a:latin typeface="Aptos" panose="020B0004020202020204" pitchFamily="34" charset="0"/>
                <a:ea typeface="Aptos" panose="020B0004020202020204" pitchFamily="34" charset="0"/>
                <a:cs typeface="Times New Roman" panose="02020603050405020304" pitchFamily="18" charset="0"/>
              </a:rPr>
            </a:br>
            <a:r>
              <a:rPr lang="en-IN" sz="1500" kern="100" dirty="0">
                <a:effectLst/>
                <a:latin typeface="Aptos" panose="020B0004020202020204" pitchFamily="34" charset="0"/>
                <a:ea typeface="Aptos" panose="020B0004020202020204" pitchFamily="34" charset="0"/>
                <a:cs typeface="Times New Roman" panose="02020603050405020304" pitchFamily="18" charset="0"/>
              </a:rPr>
              <a:t>Me &gt; Career and Performance &gt; Performance</a:t>
            </a:r>
          </a:p>
          <a:p>
            <a:pPr marL="228600" lvl="0" indent="-22860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Open the Performance evaluation document</a:t>
            </a:r>
          </a:p>
          <a:p>
            <a:pPr marL="228600" lvl="0" indent="-22860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Update Goals (if needed):</a:t>
            </a:r>
            <a:br>
              <a:rPr lang="en-IN" sz="1500" kern="100" dirty="0">
                <a:effectLst/>
                <a:latin typeface="Aptos" panose="020B0004020202020204" pitchFamily="34" charset="0"/>
                <a:ea typeface="Aptos" panose="020B0004020202020204" pitchFamily="34" charset="0"/>
                <a:cs typeface="Times New Roman" panose="02020603050405020304" pitchFamily="18" charset="0"/>
              </a:rPr>
            </a:br>
            <a:r>
              <a:rPr lang="en-IN" sz="1500" kern="100" dirty="0">
                <a:effectLst/>
                <a:latin typeface="Aptos" panose="020B0004020202020204" pitchFamily="34" charset="0"/>
                <a:ea typeface="Aptos" panose="020B0004020202020204" pitchFamily="34" charset="0"/>
                <a:cs typeface="Times New Roman" panose="02020603050405020304" pitchFamily="18" charset="0"/>
              </a:rPr>
              <a:t>Click on ‘Update your goals’ to access the Goals </a:t>
            </a:r>
            <a:r>
              <a:rPr lang="en-IN" sz="1500" kern="100" dirty="0" err="1">
                <a:effectLst/>
                <a:latin typeface="Aptos" panose="020B0004020202020204" pitchFamily="34" charset="0"/>
                <a:ea typeface="Aptos" panose="020B0004020202020204" pitchFamily="34" charset="0"/>
                <a:cs typeface="Times New Roman" panose="02020603050405020304" pitchFamily="18" charset="0"/>
              </a:rPr>
              <a:t>Center</a:t>
            </a:r>
            <a:r>
              <a:rPr lang="en-IN" sz="1500" kern="100" dirty="0">
                <a:effectLst/>
                <a:latin typeface="Aptos" panose="020B0004020202020204" pitchFamily="34" charset="0"/>
                <a:ea typeface="Aptos" panose="020B0004020202020204" pitchFamily="34" charset="0"/>
                <a:cs typeface="Times New Roman" panose="02020603050405020304" pitchFamily="18" charset="0"/>
              </a:rPr>
              <a:t>, make changes, and submit.</a:t>
            </a:r>
          </a:p>
          <a:p>
            <a:pPr marL="228600" lvl="0" indent="-22860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Rate Your Goals:</a:t>
            </a:r>
          </a:p>
          <a:p>
            <a:pPr marL="742950" lvl="1" indent="-28575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Scroll to the Goals section</a:t>
            </a:r>
          </a:p>
          <a:p>
            <a:pPr marL="742950" lvl="1" indent="-28575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Provide ratings and comments</a:t>
            </a:r>
          </a:p>
          <a:p>
            <a:pPr marL="742950" lvl="1" indent="-28575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Click ‘Save and Next’ for each goal</a:t>
            </a:r>
          </a:p>
          <a:p>
            <a:pPr marL="742950" lvl="1" indent="-28575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In the Summary section, click ‘Calculate’, add comments, and ‘Save and Close’</a:t>
            </a:r>
          </a:p>
          <a:p>
            <a:pPr marL="228600" lvl="0" indent="-22860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Final Submission:</a:t>
            </a:r>
          </a:p>
          <a:p>
            <a:pPr marL="742950" lvl="1" indent="-28575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Go to the ‘Overall Summary’ section</a:t>
            </a:r>
          </a:p>
          <a:p>
            <a:pPr marL="742950" lvl="1" indent="-285750">
              <a:lnSpc>
                <a:spcPct val="115000"/>
              </a:lnSpc>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Provide final rating and comments</a:t>
            </a:r>
          </a:p>
          <a:p>
            <a:pPr marL="742950" lvl="1" indent="-285750">
              <a:lnSpc>
                <a:spcPct val="115000"/>
              </a:lnSpc>
              <a:spcAft>
                <a:spcPts val="800"/>
              </a:spcAft>
              <a:buFont typeface="+mj-lt"/>
              <a:buAutoNum type="arabicPeriod"/>
            </a:pPr>
            <a:r>
              <a:rPr lang="en-IN" sz="1500" kern="100" dirty="0">
                <a:effectLst/>
                <a:latin typeface="Aptos" panose="020B0004020202020204" pitchFamily="34" charset="0"/>
                <a:ea typeface="Aptos" panose="020B0004020202020204" pitchFamily="34" charset="0"/>
                <a:cs typeface="Times New Roman" panose="02020603050405020304" pitchFamily="18" charset="0"/>
              </a:rPr>
              <a:t>Click ‘Submit’ to send it to your manager</a:t>
            </a:r>
          </a:p>
        </p:txBody>
      </p:sp>
    </p:spTree>
    <p:extLst>
      <p:ext uri="{BB962C8B-B14F-4D97-AF65-F5344CB8AC3E}">
        <p14:creationId xmlns:p14="http://schemas.microsoft.com/office/powerpoint/2010/main" val="696457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23ED-7652-8EF0-66DA-3D0F73879A01}"/>
              </a:ext>
            </a:extLst>
          </p:cNvPr>
          <p:cNvSpPr>
            <a:spLocks noGrp="1"/>
          </p:cNvSpPr>
          <p:nvPr>
            <p:ph type="title"/>
          </p:nvPr>
        </p:nvSpPr>
        <p:spPr>
          <a:xfrm>
            <a:off x="351451" y="962784"/>
            <a:ext cx="11228799" cy="513319"/>
          </a:xfrm>
        </p:spPr>
        <p:txBody>
          <a:bodyPr>
            <a:noAutofit/>
          </a:bodyPr>
          <a:lstStyle/>
          <a:p>
            <a:r>
              <a:rPr lang="en-IN" sz="1800" dirty="0">
                <a:solidFill>
                  <a:schemeClr val="tx1"/>
                </a:solidFill>
              </a:rPr>
              <a:t>Login into the system and go to Me &gt; Career and Performance &gt; Performance</a:t>
            </a:r>
          </a:p>
        </p:txBody>
      </p:sp>
      <p:pic>
        <p:nvPicPr>
          <p:cNvPr id="6" name="Picture 5">
            <a:extLst>
              <a:ext uri="{FF2B5EF4-FFF2-40B4-BE49-F238E27FC236}">
                <a16:creationId xmlns:a16="http://schemas.microsoft.com/office/drawing/2014/main" id="{D378FCEF-D0D9-506B-0522-DC0363B1D11D}"/>
              </a:ext>
            </a:extLst>
          </p:cNvPr>
          <p:cNvPicPr>
            <a:picLocks noChangeAspect="1"/>
          </p:cNvPicPr>
          <p:nvPr/>
        </p:nvPicPr>
        <p:blipFill>
          <a:blip r:embed="rId2"/>
          <a:stretch>
            <a:fillRect/>
          </a:stretch>
        </p:blipFill>
        <p:spPr>
          <a:xfrm>
            <a:off x="67776" y="1398429"/>
            <a:ext cx="5685106" cy="4791188"/>
          </a:xfrm>
          <a:prstGeom prst="rect">
            <a:avLst/>
          </a:prstGeom>
        </p:spPr>
      </p:pic>
      <p:pic>
        <p:nvPicPr>
          <p:cNvPr id="8" name="Picture 7">
            <a:extLst>
              <a:ext uri="{FF2B5EF4-FFF2-40B4-BE49-F238E27FC236}">
                <a16:creationId xmlns:a16="http://schemas.microsoft.com/office/drawing/2014/main" id="{1C1B1136-87DD-968E-4CFF-960FAFEBA04F}"/>
              </a:ext>
            </a:extLst>
          </p:cNvPr>
          <p:cNvPicPr>
            <a:picLocks noChangeAspect="1"/>
          </p:cNvPicPr>
          <p:nvPr/>
        </p:nvPicPr>
        <p:blipFill>
          <a:blip r:embed="rId3"/>
          <a:stretch>
            <a:fillRect/>
          </a:stretch>
        </p:blipFill>
        <p:spPr>
          <a:xfrm>
            <a:off x="5752883" y="1398429"/>
            <a:ext cx="6316478" cy="4730993"/>
          </a:xfrm>
          <a:prstGeom prst="rect">
            <a:avLst/>
          </a:prstGeom>
        </p:spPr>
      </p:pic>
      <p:sp>
        <p:nvSpPr>
          <p:cNvPr id="7" name="Rectangle 6">
            <a:extLst>
              <a:ext uri="{FF2B5EF4-FFF2-40B4-BE49-F238E27FC236}">
                <a16:creationId xmlns:a16="http://schemas.microsoft.com/office/drawing/2014/main" id="{B5169F5E-63AE-FA00-1818-C2E1B188BE80}"/>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object 5">
            <a:extLst>
              <a:ext uri="{FF2B5EF4-FFF2-40B4-BE49-F238E27FC236}">
                <a16:creationId xmlns:a16="http://schemas.microsoft.com/office/drawing/2014/main" id="{4464B4C1-605F-4E29-F491-9AE124C15E55}"/>
              </a:ext>
            </a:extLst>
          </p:cNvPr>
          <p:cNvPicPr/>
          <p:nvPr/>
        </p:nvPicPr>
        <p:blipFill>
          <a:blip r:embed="rId4" cstate="print"/>
          <a:stretch>
            <a:fillRect/>
          </a:stretch>
        </p:blipFill>
        <p:spPr>
          <a:xfrm>
            <a:off x="10524744" y="49275"/>
            <a:ext cx="1582928" cy="504953"/>
          </a:xfrm>
          <a:prstGeom prst="rect">
            <a:avLst/>
          </a:prstGeom>
        </p:spPr>
      </p:pic>
      <p:sp>
        <p:nvSpPr>
          <p:cNvPr id="10" name="TextBox 9">
            <a:extLst>
              <a:ext uri="{FF2B5EF4-FFF2-40B4-BE49-F238E27FC236}">
                <a16:creationId xmlns:a16="http://schemas.microsoft.com/office/drawing/2014/main" id="{D9617177-A9B6-28B8-0C9F-BA90BEB1DF6D}"/>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Employee Self Evaluation</a:t>
            </a:r>
            <a:endParaRPr lang="en-IN" b="1" dirty="0">
              <a:solidFill>
                <a:schemeClr val="bg1"/>
              </a:solidFill>
            </a:endParaRPr>
          </a:p>
        </p:txBody>
      </p:sp>
    </p:spTree>
    <p:extLst>
      <p:ext uri="{BB962C8B-B14F-4D97-AF65-F5344CB8AC3E}">
        <p14:creationId xmlns:p14="http://schemas.microsoft.com/office/powerpoint/2010/main" val="3530981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89891-4566-D729-7AFD-81AB9C896065}"/>
              </a:ext>
            </a:extLst>
          </p:cNvPr>
          <p:cNvSpPr>
            <a:spLocks noGrp="1"/>
          </p:cNvSpPr>
          <p:nvPr>
            <p:ph type="title"/>
          </p:nvPr>
        </p:nvSpPr>
        <p:spPr>
          <a:xfrm>
            <a:off x="378883" y="469008"/>
            <a:ext cx="11228799" cy="665719"/>
          </a:xfrm>
        </p:spPr>
        <p:txBody>
          <a:bodyPr>
            <a:normAutofit/>
          </a:bodyPr>
          <a:lstStyle/>
          <a:p>
            <a:r>
              <a:rPr lang="en-IN" sz="1800" dirty="0">
                <a:solidFill>
                  <a:schemeClr val="tx1"/>
                </a:solidFill>
              </a:rPr>
              <a:t>Click on the second quarter evaluation document.</a:t>
            </a:r>
          </a:p>
        </p:txBody>
      </p:sp>
      <p:pic>
        <p:nvPicPr>
          <p:cNvPr id="5" name="Picture 4">
            <a:extLst>
              <a:ext uri="{FF2B5EF4-FFF2-40B4-BE49-F238E27FC236}">
                <a16:creationId xmlns:a16="http://schemas.microsoft.com/office/drawing/2014/main" id="{6350E306-B1E2-3943-C2D3-7D2E08DE6D6D}"/>
              </a:ext>
            </a:extLst>
          </p:cNvPr>
          <p:cNvPicPr>
            <a:picLocks noChangeAspect="1"/>
          </p:cNvPicPr>
          <p:nvPr/>
        </p:nvPicPr>
        <p:blipFill>
          <a:blip r:embed="rId2"/>
          <a:stretch>
            <a:fillRect/>
          </a:stretch>
        </p:blipFill>
        <p:spPr>
          <a:xfrm>
            <a:off x="378883" y="936173"/>
            <a:ext cx="11030298" cy="4604656"/>
          </a:xfrm>
          <a:prstGeom prst="rect">
            <a:avLst/>
          </a:prstGeom>
        </p:spPr>
      </p:pic>
      <p:sp>
        <p:nvSpPr>
          <p:cNvPr id="3" name="Rectangle 2">
            <a:extLst>
              <a:ext uri="{FF2B5EF4-FFF2-40B4-BE49-F238E27FC236}">
                <a16:creationId xmlns:a16="http://schemas.microsoft.com/office/drawing/2014/main" id="{B0E15578-A807-300C-DC9F-F805736E4A9D}"/>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0CAA398-D106-72F0-D21F-A35E06ACF577}"/>
              </a:ext>
            </a:extLst>
          </p:cNvPr>
          <p:cNvSpPr txBox="1"/>
          <p:nvPr/>
        </p:nvSpPr>
        <p:spPr>
          <a:xfrm>
            <a:off x="84328" y="104157"/>
            <a:ext cx="8447024" cy="369332"/>
          </a:xfrm>
          <a:prstGeom prst="rect">
            <a:avLst/>
          </a:prstGeom>
          <a:noFill/>
        </p:spPr>
        <p:txBody>
          <a:bodyPr wrap="square" rtlCol="0">
            <a:spAutoFit/>
          </a:bodyPr>
          <a:lstStyle/>
          <a:p>
            <a:r>
              <a:rPr lang="en-GB" b="1" dirty="0">
                <a:solidFill>
                  <a:schemeClr val="bg1"/>
                </a:solidFill>
              </a:rPr>
              <a:t>Evaluation of Performance Document</a:t>
            </a:r>
            <a:endParaRPr lang="en-IN" b="1" dirty="0">
              <a:solidFill>
                <a:schemeClr val="bg1"/>
              </a:solidFill>
            </a:endParaRPr>
          </a:p>
        </p:txBody>
      </p:sp>
    </p:spTree>
    <p:extLst>
      <p:ext uri="{BB962C8B-B14F-4D97-AF65-F5344CB8AC3E}">
        <p14:creationId xmlns:p14="http://schemas.microsoft.com/office/powerpoint/2010/main" val="165224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26EF-48A0-A826-4C3A-29B61CBACBD1}"/>
              </a:ext>
            </a:extLst>
          </p:cNvPr>
          <p:cNvSpPr>
            <a:spLocks noGrp="1"/>
          </p:cNvSpPr>
          <p:nvPr>
            <p:ph type="title"/>
          </p:nvPr>
        </p:nvSpPr>
        <p:spPr>
          <a:xfrm>
            <a:off x="84328" y="577646"/>
            <a:ext cx="12192000" cy="1143200"/>
          </a:xfrm>
        </p:spPr>
        <p:txBody>
          <a:bodyPr>
            <a:normAutofit/>
          </a:bodyPr>
          <a:lstStyle/>
          <a:p>
            <a:r>
              <a:rPr lang="en-IN" sz="1800" dirty="0">
                <a:solidFill>
                  <a:schemeClr val="tx1"/>
                </a:solidFill>
              </a:rPr>
              <a:t>If you need to make some changes in the goals before evaluation click on the ‘Update your goals’ card to go to the </a:t>
            </a:r>
            <a:r>
              <a:rPr lang="en-IN" sz="1800" b="1" dirty="0">
                <a:solidFill>
                  <a:schemeClr val="tx1"/>
                </a:solidFill>
              </a:rPr>
              <a:t>‘Goals </a:t>
            </a:r>
            <a:r>
              <a:rPr lang="en-IN" sz="1800" b="1" dirty="0" err="1">
                <a:solidFill>
                  <a:schemeClr val="tx1"/>
                </a:solidFill>
              </a:rPr>
              <a:t>Center</a:t>
            </a:r>
            <a:r>
              <a:rPr lang="en-IN" sz="1800" dirty="0">
                <a:solidFill>
                  <a:schemeClr val="tx1"/>
                </a:solidFill>
              </a:rPr>
              <a:t>’.</a:t>
            </a:r>
            <a:br>
              <a:rPr lang="en-IN" sz="1800" dirty="0">
                <a:solidFill>
                  <a:schemeClr val="tx1"/>
                </a:solidFill>
              </a:rPr>
            </a:br>
            <a:r>
              <a:rPr lang="en-IN" sz="1800" dirty="0">
                <a:solidFill>
                  <a:schemeClr val="tx1"/>
                </a:solidFill>
              </a:rPr>
              <a:t>After making the goal changes submit them, the new goals will be auto updated in the performance document.</a:t>
            </a:r>
          </a:p>
        </p:txBody>
      </p:sp>
      <p:pic>
        <p:nvPicPr>
          <p:cNvPr id="5" name="Picture 4">
            <a:extLst>
              <a:ext uri="{FF2B5EF4-FFF2-40B4-BE49-F238E27FC236}">
                <a16:creationId xmlns:a16="http://schemas.microsoft.com/office/drawing/2014/main" id="{2A6C43DE-3EDB-A110-738A-57ABEFDD23D4}"/>
              </a:ext>
            </a:extLst>
          </p:cNvPr>
          <p:cNvPicPr>
            <a:picLocks noChangeAspect="1"/>
          </p:cNvPicPr>
          <p:nvPr/>
        </p:nvPicPr>
        <p:blipFill>
          <a:blip r:embed="rId2"/>
          <a:stretch>
            <a:fillRect/>
          </a:stretch>
        </p:blipFill>
        <p:spPr>
          <a:xfrm>
            <a:off x="388145" y="1777622"/>
            <a:ext cx="5605137" cy="4940554"/>
          </a:xfrm>
          <a:prstGeom prst="rect">
            <a:avLst/>
          </a:prstGeom>
        </p:spPr>
      </p:pic>
      <p:pic>
        <p:nvPicPr>
          <p:cNvPr id="8" name="Picture 7">
            <a:extLst>
              <a:ext uri="{FF2B5EF4-FFF2-40B4-BE49-F238E27FC236}">
                <a16:creationId xmlns:a16="http://schemas.microsoft.com/office/drawing/2014/main" id="{3EEF4251-A2C2-871D-1CEC-6D3D15868B77}"/>
              </a:ext>
            </a:extLst>
          </p:cNvPr>
          <p:cNvPicPr>
            <a:picLocks noChangeAspect="1"/>
          </p:cNvPicPr>
          <p:nvPr/>
        </p:nvPicPr>
        <p:blipFill>
          <a:blip r:embed="rId3"/>
          <a:stretch>
            <a:fillRect/>
          </a:stretch>
        </p:blipFill>
        <p:spPr>
          <a:xfrm>
            <a:off x="6299706" y="2005400"/>
            <a:ext cx="5148202" cy="4649690"/>
          </a:xfrm>
          <a:prstGeom prst="rect">
            <a:avLst/>
          </a:prstGeom>
        </p:spPr>
      </p:pic>
      <p:sp>
        <p:nvSpPr>
          <p:cNvPr id="3" name="Rectangle 2">
            <a:extLst>
              <a:ext uri="{FF2B5EF4-FFF2-40B4-BE49-F238E27FC236}">
                <a16:creationId xmlns:a16="http://schemas.microsoft.com/office/drawing/2014/main" id="{484F3F65-B0AF-C2BB-B5D9-1AE066A9F248}"/>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B62BEDB-8FF8-769E-C164-2AB18988F20B}"/>
              </a:ext>
            </a:extLst>
          </p:cNvPr>
          <p:cNvSpPr txBox="1"/>
          <p:nvPr/>
        </p:nvSpPr>
        <p:spPr>
          <a:xfrm>
            <a:off x="84328" y="104157"/>
            <a:ext cx="8117840" cy="369332"/>
          </a:xfrm>
          <a:prstGeom prst="rect">
            <a:avLst/>
          </a:prstGeom>
          <a:noFill/>
        </p:spPr>
        <p:txBody>
          <a:bodyPr wrap="square" rtlCol="0">
            <a:spAutoFit/>
          </a:bodyPr>
          <a:lstStyle/>
          <a:p>
            <a:r>
              <a:rPr lang="en-GB" b="1" dirty="0">
                <a:solidFill>
                  <a:schemeClr val="bg1"/>
                </a:solidFill>
              </a:rPr>
              <a:t>Evaluation of Performance Document</a:t>
            </a:r>
            <a:endParaRPr lang="en-IN" b="1" dirty="0">
              <a:solidFill>
                <a:schemeClr val="bg1"/>
              </a:solidFill>
            </a:endParaRPr>
          </a:p>
        </p:txBody>
      </p:sp>
      <p:sp>
        <p:nvSpPr>
          <p:cNvPr id="6" name="Rectangle 5">
            <a:extLst>
              <a:ext uri="{FF2B5EF4-FFF2-40B4-BE49-F238E27FC236}">
                <a16:creationId xmlns:a16="http://schemas.microsoft.com/office/drawing/2014/main" id="{75518056-A7DA-84EA-1B14-25C1BE95669E}"/>
              </a:ext>
            </a:extLst>
          </p:cNvPr>
          <p:cNvSpPr/>
          <p:nvPr/>
        </p:nvSpPr>
        <p:spPr>
          <a:xfrm>
            <a:off x="1627632" y="2423160"/>
            <a:ext cx="1271016" cy="2286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4F1004B-5A9F-D5FA-65E0-210AF7FDF4F1}"/>
              </a:ext>
            </a:extLst>
          </p:cNvPr>
          <p:cNvSpPr/>
          <p:nvPr/>
        </p:nvSpPr>
        <p:spPr>
          <a:xfrm>
            <a:off x="7602791" y="3736848"/>
            <a:ext cx="1271016" cy="228600"/>
          </a:xfrm>
          <a:prstGeom prst="rect">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361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00040-3669-25B4-7F8E-F9479914D7A2}"/>
              </a:ext>
            </a:extLst>
          </p:cNvPr>
          <p:cNvSpPr>
            <a:spLocks noGrp="1"/>
          </p:cNvSpPr>
          <p:nvPr>
            <p:ph type="title"/>
          </p:nvPr>
        </p:nvSpPr>
        <p:spPr>
          <a:xfrm>
            <a:off x="600891" y="899546"/>
            <a:ext cx="11228799" cy="796347"/>
          </a:xfrm>
        </p:spPr>
        <p:txBody>
          <a:bodyPr>
            <a:normAutofit fontScale="90000"/>
          </a:bodyPr>
          <a:lstStyle/>
          <a:p>
            <a:r>
              <a:rPr lang="en-IN" sz="1800" dirty="0">
                <a:solidFill>
                  <a:schemeClr val="tx1"/>
                </a:solidFill>
              </a:rPr>
              <a:t>Scroll down to the Goals section and provide rating and comments and click ‘Save and Next’</a:t>
            </a:r>
            <a:br>
              <a:rPr lang="en-IN" sz="1800" dirty="0">
                <a:solidFill>
                  <a:schemeClr val="tx1"/>
                </a:solidFill>
              </a:rPr>
            </a:br>
            <a:r>
              <a:rPr lang="en-IN" sz="1800" dirty="0">
                <a:solidFill>
                  <a:schemeClr val="tx1"/>
                </a:solidFill>
              </a:rPr>
              <a:t>Repeat the same step for each of the goals.</a:t>
            </a:r>
            <a:br>
              <a:rPr lang="en-IN" sz="1800" dirty="0">
                <a:solidFill>
                  <a:schemeClr val="tx1"/>
                </a:solidFill>
              </a:rPr>
            </a:br>
            <a:r>
              <a:rPr lang="en-IN" sz="1800" dirty="0">
                <a:solidFill>
                  <a:schemeClr val="tx1"/>
                </a:solidFill>
              </a:rPr>
              <a:t>In the Summary section of goals click ‘Calculate’ to give calculated rating, the provide comment and click ‘Save and Close’.</a:t>
            </a:r>
          </a:p>
        </p:txBody>
      </p:sp>
      <p:pic>
        <p:nvPicPr>
          <p:cNvPr id="7" name="Picture 6">
            <a:extLst>
              <a:ext uri="{FF2B5EF4-FFF2-40B4-BE49-F238E27FC236}">
                <a16:creationId xmlns:a16="http://schemas.microsoft.com/office/drawing/2014/main" id="{246F2879-D0E7-63C5-EFEC-9E9D8B16C7A5}"/>
              </a:ext>
            </a:extLst>
          </p:cNvPr>
          <p:cNvPicPr>
            <a:picLocks noChangeAspect="1"/>
          </p:cNvPicPr>
          <p:nvPr/>
        </p:nvPicPr>
        <p:blipFill>
          <a:blip r:embed="rId2"/>
          <a:stretch>
            <a:fillRect/>
          </a:stretch>
        </p:blipFill>
        <p:spPr>
          <a:xfrm>
            <a:off x="5952115" y="1816856"/>
            <a:ext cx="4179438" cy="2875304"/>
          </a:xfrm>
          <a:prstGeom prst="rect">
            <a:avLst/>
          </a:prstGeom>
        </p:spPr>
      </p:pic>
      <p:pic>
        <p:nvPicPr>
          <p:cNvPr id="11" name="Picture 10">
            <a:extLst>
              <a:ext uri="{FF2B5EF4-FFF2-40B4-BE49-F238E27FC236}">
                <a16:creationId xmlns:a16="http://schemas.microsoft.com/office/drawing/2014/main" id="{4AB5CB0A-C49E-54A0-5961-0FC08D1F1554}"/>
              </a:ext>
            </a:extLst>
          </p:cNvPr>
          <p:cNvPicPr>
            <a:picLocks noChangeAspect="1"/>
          </p:cNvPicPr>
          <p:nvPr/>
        </p:nvPicPr>
        <p:blipFill>
          <a:blip r:embed="rId3"/>
          <a:stretch>
            <a:fillRect/>
          </a:stretch>
        </p:blipFill>
        <p:spPr>
          <a:xfrm>
            <a:off x="3381952" y="4813123"/>
            <a:ext cx="4770123" cy="1951689"/>
          </a:xfrm>
          <a:prstGeom prst="rect">
            <a:avLst/>
          </a:prstGeom>
        </p:spPr>
      </p:pic>
      <p:pic>
        <p:nvPicPr>
          <p:cNvPr id="5" name="Picture 4">
            <a:extLst>
              <a:ext uri="{FF2B5EF4-FFF2-40B4-BE49-F238E27FC236}">
                <a16:creationId xmlns:a16="http://schemas.microsoft.com/office/drawing/2014/main" id="{74415C0D-5743-BC8F-378E-D522457867E8}"/>
              </a:ext>
            </a:extLst>
          </p:cNvPr>
          <p:cNvPicPr>
            <a:picLocks noChangeAspect="1"/>
          </p:cNvPicPr>
          <p:nvPr/>
        </p:nvPicPr>
        <p:blipFill>
          <a:blip r:embed="rId4"/>
          <a:stretch>
            <a:fillRect/>
          </a:stretch>
        </p:blipFill>
        <p:spPr>
          <a:xfrm>
            <a:off x="161979" y="1695893"/>
            <a:ext cx="5605035" cy="2893664"/>
          </a:xfrm>
          <a:prstGeom prst="rect">
            <a:avLst/>
          </a:prstGeom>
        </p:spPr>
      </p:pic>
      <p:sp>
        <p:nvSpPr>
          <p:cNvPr id="3" name="Rectangle 2">
            <a:extLst>
              <a:ext uri="{FF2B5EF4-FFF2-40B4-BE49-F238E27FC236}">
                <a16:creationId xmlns:a16="http://schemas.microsoft.com/office/drawing/2014/main" id="{1AA112C6-9D92-6B56-9628-D03D2993DA3E}"/>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1109C6D-566D-E080-0691-DB21A8BCADCA}"/>
              </a:ext>
            </a:extLst>
          </p:cNvPr>
          <p:cNvSpPr txBox="1"/>
          <p:nvPr/>
        </p:nvSpPr>
        <p:spPr>
          <a:xfrm>
            <a:off x="84328" y="104157"/>
            <a:ext cx="8346440" cy="369332"/>
          </a:xfrm>
          <a:prstGeom prst="rect">
            <a:avLst/>
          </a:prstGeom>
          <a:noFill/>
        </p:spPr>
        <p:txBody>
          <a:bodyPr wrap="square" rtlCol="0">
            <a:spAutoFit/>
          </a:bodyPr>
          <a:lstStyle/>
          <a:p>
            <a:r>
              <a:rPr lang="en-GB" b="1" dirty="0">
                <a:solidFill>
                  <a:schemeClr val="bg1"/>
                </a:solidFill>
              </a:rPr>
              <a:t>Evaluation of Performance Document</a:t>
            </a:r>
            <a:endParaRPr lang="en-IN" b="1" dirty="0">
              <a:solidFill>
                <a:schemeClr val="bg1"/>
              </a:solidFill>
            </a:endParaRPr>
          </a:p>
        </p:txBody>
      </p:sp>
    </p:spTree>
    <p:extLst>
      <p:ext uri="{BB962C8B-B14F-4D97-AF65-F5344CB8AC3E}">
        <p14:creationId xmlns:p14="http://schemas.microsoft.com/office/powerpoint/2010/main" val="1857296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C72E9-C1C3-C0BA-6EA7-A0DEDE3D9A3A}"/>
              </a:ext>
            </a:extLst>
          </p:cNvPr>
          <p:cNvSpPr>
            <a:spLocks noGrp="1"/>
          </p:cNvSpPr>
          <p:nvPr>
            <p:ph type="title"/>
          </p:nvPr>
        </p:nvSpPr>
        <p:spPr>
          <a:xfrm>
            <a:off x="216872" y="653796"/>
            <a:ext cx="11228799" cy="1143200"/>
          </a:xfrm>
        </p:spPr>
        <p:txBody>
          <a:bodyPr>
            <a:normAutofit/>
          </a:bodyPr>
          <a:lstStyle/>
          <a:p>
            <a:r>
              <a:rPr lang="en-IN" sz="1600" dirty="0">
                <a:solidFill>
                  <a:schemeClr val="tx1"/>
                </a:solidFill>
              </a:rPr>
              <a:t>Scroll down to the ‘Overall Summary’ section.</a:t>
            </a:r>
            <a:br>
              <a:rPr lang="en-IN" sz="1600" dirty="0">
                <a:solidFill>
                  <a:schemeClr val="tx1"/>
                </a:solidFill>
              </a:rPr>
            </a:br>
            <a:r>
              <a:rPr lang="en-IN" sz="1600" dirty="0">
                <a:solidFill>
                  <a:schemeClr val="tx1"/>
                </a:solidFill>
              </a:rPr>
              <a:t>Provide the final rating and comments and click ‘Save and Close’</a:t>
            </a:r>
            <a:br>
              <a:rPr lang="en-IN" sz="1600" dirty="0">
                <a:solidFill>
                  <a:schemeClr val="tx1"/>
                </a:solidFill>
              </a:rPr>
            </a:br>
            <a:r>
              <a:rPr lang="en-IN" sz="1600" dirty="0">
                <a:solidFill>
                  <a:schemeClr val="tx1"/>
                </a:solidFill>
              </a:rPr>
              <a:t>After providing all the ratings and comments click on ‘Submit’</a:t>
            </a:r>
          </a:p>
        </p:txBody>
      </p:sp>
      <p:pic>
        <p:nvPicPr>
          <p:cNvPr id="8" name="Picture 7">
            <a:extLst>
              <a:ext uri="{FF2B5EF4-FFF2-40B4-BE49-F238E27FC236}">
                <a16:creationId xmlns:a16="http://schemas.microsoft.com/office/drawing/2014/main" id="{8C1C4AE1-7322-F737-20EC-7B6E278EC8A3}"/>
              </a:ext>
            </a:extLst>
          </p:cNvPr>
          <p:cNvPicPr>
            <a:picLocks noChangeAspect="1"/>
          </p:cNvPicPr>
          <p:nvPr/>
        </p:nvPicPr>
        <p:blipFill>
          <a:blip r:embed="rId2"/>
          <a:stretch>
            <a:fillRect/>
          </a:stretch>
        </p:blipFill>
        <p:spPr>
          <a:xfrm>
            <a:off x="6876289" y="2066744"/>
            <a:ext cx="3479152" cy="2216264"/>
          </a:xfrm>
          <a:prstGeom prst="rect">
            <a:avLst/>
          </a:prstGeom>
        </p:spPr>
      </p:pic>
      <p:pic>
        <p:nvPicPr>
          <p:cNvPr id="4" name="Picture 3">
            <a:extLst>
              <a:ext uri="{FF2B5EF4-FFF2-40B4-BE49-F238E27FC236}">
                <a16:creationId xmlns:a16="http://schemas.microsoft.com/office/drawing/2014/main" id="{A2687D0C-29B2-AA06-E686-F443D6BAC3A9}"/>
              </a:ext>
            </a:extLst>
          </p:cNvPr>
          <p:cNvPicPr>
            <a:picLocks noChangeAspect="1"/>
          </p:cNvPicPr>
          <p:nvPr/>
        </p:nvPicPr>
        <p:blipFill>
          <a:blip r:embed="rId3"/>
          <a:stretch>
            <a:fillRect/>
          </a:stretch>
        </p:blipFill>
        <p:spPr>
          <a:xfrm>
            <a:off x="216872" y="1957016"/>
            <a:ext cx="6375952" cy="3803704"/>
          </a:xfrm>
          <a:prstGeom prst="rect">
            <a:avLst/>
          </a:prstGeom>
        </p:spPr>
      </p:pic>
      <p:sp>
        <p:nvSpPr>
          <p:cNvPr id="3" name="Rectangle 2">
            <a:extLst>
              <a:ext uri="{FF2B5EF4-FFF2-40B4-BE49-F238E27FC236}">
                <a16:creationId xmlns:a16="http://schemas.microsoft.com/office/drawing/2014/main" id="{C48AA5BE-2624-A45C-7E38-00CBE1D08396}"/>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D7AF518-95F8-B6BC-4CEA-A610033891F5}"/>
              </a:ext>
            </a:extLst>
          </p:cNvPr>
          <p:cNvSpPr txBox="1"/>
          <p:nvPr/>
        </p:nvSpPr>
        <p:spPr>
          <a:xfrm>
            <a:off x="84328" y="104157"/>
            <a:ext cx="8410448" cy="369332"/>
          </a:xfrm>
          <a:prstGeom prst="rect">
            <a:avLst/>
          </a:prstGeom>
          <a:noFill/>
        </p:spPr>
        <p:txBody>
          <a:bodyPr wrap="square" rtlCol="0">
            <a:spAutoFit/>
          </a:bodyPr>
          <a:lstStyle/>
          <a:p>
            <a:r>
              <a:rPr lang="en-GB" b="1" dirty="0">
                <a:solidFill>
                  <a:schemeClr val="bg1"/>
                </a:solidFill>
              </a:rPr>
              <a:t>Evaluation of Performance Document</a:t>
            </a:r>
            <a:endParaRPr lang="en-IN" b="1" dirty="0">
              <a:solidFill>
                <a:schemeClr val="bg1"/>
              </a:solidFill>
            </a:endParaRPr>
          </a:p>
        </p:txBody>
      </p:sp>
    </p:spTree>
    <p:extLst>
      <p:ext uri="{BB962C8B-B14F-4D97-AF65-F5344CB8AC3E}">
        <p14:creationId xmlns:p14="http://schemas.microsoft.com/office/powerpoint/2010/main" val="2896417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8114" name="Picture 2" descr="14H00493"/>
          <p:cNvPicPr>
            <a:picLocks noChangeAspect="1" noChangeArrowheads="1"/>
          </p:cNvPicPr>
          <p:nvPr/>
        </p:nvPicPr>
        <p:blipFill>
          <a:blip r:embed="rId3" cstate="print"/>
          <a:srcRect/>
          <a:stretch>
            <a:fillRect/>
          </a:stretch>
        </p:blipFill>
        <p:spPr bwMode="auto">
          <a:xfrm>
            <a:off x="0" y="0"/>
            <a:ext cx="12192000" cy="6858000"/>
          </a:xfrm>
          <a:prstGeom prst="rect">
            <a:avLst/>
          </a:prstGeom>
          <a:noFill/>
        </p:spPr>
      </p:pic>
      <p:sp>
        <p:nvSpPr>
          <p:cNvPr id="858115" name="Freeform 3"/>
          <p:cNvSpPr>
            <a:spLocks/>
          </p:cNvSpPr>
          <p:nvPr/>
        </p:nvSpPr>
        <p:spPr bwMode="auto">
          <a:xfrm>
            <a:off x="1242557" y="3581403"/>
            <a:ext cx="7017588" cy="1246188"/>
          </a:xfrm>
          <a:custGeom>
            <a:avLst/>
            <a:gdLst/>
            <a:ahLst/>
            <a:cxnLst>
              <a:cxn ang="0">
                <a:pos x="4888" y="0"/>
              </a:cxn>
              <a:cxn ang="0">
                <a:pos x="0" y="1"/>
              </a:cxn>
              <a:cxn ang="0">
                <a:pos x="0" y="865"/>
              </a:cxn>
              <a:cxn ang="0">
                <a:pos x="4718" y="865"/>
              </a:cxn>
              <a:cxn ang="0">
                <a:pos x="4888" y="0"/>
              </a:cxn>
            </a:cxnLst>
            <a:rect l="0" t="0" r="r" b="b"/>
            <a:pathLst>
              <a:path w="4888" h="865">
                <a:moveTo>
                  <a:pt x="4888" y="0"/>
                </a:moveTo>
                <a:lnTo>
                  <a:pt x="0" y="1"/>
                </a:lnTo>
                <a:lnTo>
                  <a:pt x="0" y="865"/>
                </a:lnTo>
                <a:lnTo>
                  <a:pt x="4718" y="865"/>
                </a:lnTo>
                <a:lnTo>
                  <a:pt x="4888" y="0"/>
                </a:lnTo>
                <a:close/>
              </a:path>
            </a:pathLst>
          </a:custGeom>
          <a:solidFill>
            <a:schemeClr val="tx1"/>
          </a:solidFill>
          <a:ln w="9525">
            <a:noFill/>
            <a:round/>
            <a:headEnd/>
            <a:tailEnd/>
          </a:ln>
          <a:effectLst/>
        </p:spPr>
        <p:txBody>
          <a:bodyPr lIns="90113" tIns="45057" rIns="90113" bIns="45057"/>
          <a:lstStyle/>
          <a:p>
            <a:pPr defTabSz="826061"/>
            <a:endParaRPr lang="en-US" sz="1265" dirty="0"/>
          </a:p>
        </p:txBody>
      </p:sp>
      <p:sp>
        <p:nvSpPr>
          <p:cNvPr id="858116" name="Text Box 4"/>
          <p:cNvSpPr txBox="1">
            <a:spLocks noChangeArrowheads="1"/>
          </p:cNvSpPr>
          <p:nvPr/>
        </p:nvSpPr>
        <p:spPr bwMode="auto">
          <a:xfrm>
            <a:off x="1691807" y="3997327"/>
            <a:ext cx="4418136" cy="528637"/>
          </a:xfrm>
          <a:prstGeom prst="rect">
            <a:avLst/>
          </a:prstGeom>
          <a:noFill/>
          <a:ln w="9525">
            <a:noFill/>
            <a:miter lim="800000"/>
            <a:headEnd/>
            <a:tailEnd/>
          </a:ln>
          <a:effectLst/>
        </p:spPr>
        <p:txBody>
          <a:bodyPr lIns="82772" tIns="41385" rIns="82772" bIns="41385">
            <a:spAutoFit/>
          </a:bodyPr>
          <a:lstStyle/>
          <a:p>
            <a:pPr defTabSz="943391">
              <a:spcBef>
                <a:spcPct val="50000"/>
              </a:spcBef>
            </a:pPr>
            <a:r>
              <a:rPr lang="en-US" sz="2892" b="1" i="1" dirty="0">
                <a:solidFill>
                  <a:schemeClr val="bg2"/>
                </a:solidFill>
                <a:latin typeface="EYInterstate Light" panose="02000506000000020004" pitchFamily="2" charset="0"/>
              </a:rPr>
              <a:t>Manager Related Tasks</a:t>
            </a:r>
            <a:endParaRPr lang="en-US" sz="2892" i="1" dirty="0">
              <a:solidFill>
                <a:schemeClr val="bg2"/>
              </a:solidFill>
              <a:latin typeface="EYInterstate Light" panose="02000506000000020004" pitchFamily="2" charset="0"/>
            </a:endParaRPr>
          </a:p>
        </p:txBody>
      </p:sp>
    </p:spTree>
    <p:extLst>
      <p:ext uri="{BB962C8B-B14F-4D97-AF65-F5344CB8AC3E}">
        <p14:creationId xmlns:p14="http://schemas.microsoft.com/office/powerpoint/2010/main" val="2990391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2E9874-B879-47E8-4732-3139A9CADE02}"/>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2C3C789-49CD-5170-39CC-6D5727B9A792}"/>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Manager Evaluation : Process Overview </a:t>
            </a:r>
            <a:endParaRPr lang="en-IN" b="1" dirty="0">
              <a:solidFill>
                <a:schemeClr val="bg1"/>
              </a:solidFill>
            </a:endParaRPr>
          </a:p>
        </p:txBody>
      </p:sp>
      <p:sp>
        <p:nvSpPr>
          <p:cNvPr id="9" name="TextBox 8">
            <a:extLst>
              <a:ext uri="{FF2B5EF4-FFF2-40B4-BE49-F238E27FC236}">
                <a16:creationId xmlns:a16="http://schemas.microsoft.com/office/drawing/2014/main" id="{953D3B99-261A-C321-75AA-2F0467986136}"/>
              </a:ext>
            </a:extLst>
          </p:cNvPr>
          <p:cNvSpPr txBox="1"/>
          <p:nvPr/>
        </p:nvSpPr>
        <p:spPr>
          <a:xfrm>
            <a:off x="386334" y="852005"/>
            <a:ext cx="10019538" cy="3795654"/>
          </a:xfrm>
          <a:prstGeom prst="rect">
            <a:avLst/>
          </a:prstGeom>
          <a:noFill/>
        </p:spPr>
        <p:txBody>
          <a:bodyPr wrap="square">
            <a:spAutoFit/>
          </a:bodyPr>
          <a:lstStyle/>
          <a:p>
            <a:pPr>
              <a:lnSpc>
                <a:spcPct val="115000"/>
              </a:lnSpc>
            </a:pPr>
            <a:r>
              <a:rPr lang="en-IN" sz="1500" kern="100" dirty="0">
                <a:latin typeface="Aptos" panose="020B0004020202020204" pitchFamily="34" charset="0"/>
                <a:cs typeface="Times New Roman" panose="02020603050405020304" pitchFamily="18" charset="0"/>
              </a:rPr>
              <a:t>On completion of self-evaluation by your team member  :</a:t>
            </a:r>
          </a:p>
          <a:p>
            <a:pPr>
              <a:lnSpc>
                <a:spcPct val="115000"/>
              </a:lnSpc>
            </a:pPr>
            <a:endParaRPr lang="en-IN" sz="1500" kern="100" dirty="0">
              <a:latin typeface="Aptos" panose="020B0004020202020204" pitchFamily="34" charset="0"/>
              <a:cs typeface="Times New Roman" panose="02020603050405020304" pitchFamily="18" charset="0"/>
            </a:endParaRPr>
          </a:p>
          <a:p>
            <a:pPr>
              <a:lnSpc>
                <a:spcPct val="115000"/>
              </a:lnSpc>
              <a:tabLst>
                <a:tab pos="685800" algn="l"/>
              </a:tabLst>
            </a:pPr>
            <a:r>
              <a:rPr lang="en-IN" sz="1500" kern="100" dirty="0">
                <a:latin typeface="Aptos" panose="020B0004020202020204" pitchFamily="34" charset="0"/>
                <a:cs typeface="Times New Roman" panose="02020603050405020304" pitchFamily="18" charset="0"/>
              </a:rPr>
              <a:t>1. Access the Document:</a:t>
            </a:r>
          </a:p>
          <a:p>
            <a:pPr marL="285750" indent="-285750">
              <a:lnSpc>
                <a:spcPct val="115000"/>
              </a:lnSpc>
              <a:buSzPts val="1000"/>
              <a:buFont typeface="Arial" panose="020B0604020202020204" pitchFamily="34" charset="0"/>
              <a:buChar char="•"/>
              <a:tabLst>
                <a:tab pos="1143000" algn="l"/>
              </a:tabLst>
            </a:pPr>
            <a:r>
              <a:rPr lang="en-IN" sz="1500" kern="100" dirty="0">
                <a:latin typeface="Aptos" panose="020B0004020202020204" pitchFamily="34" charset="0"/>
                <a:cs typeface="Times New Roman" panose="02020603050405020304" pitchFamily="18" charset="0"/>
              </a:rPr>
              <a:t>Via notification</a:t>
            </a:r>
          </a:p>
          <a:p>
            <a:pPr marL="285750" indent="-285750">
              <a:lnSpc>
                <a:spcPct val="115000"/>
              </a:lnSpc>
              <a:buSzPts val="1000"/>
              <a:buFont typeface="Arial" panose="020B0604020202020204" pitchFamily="34" charset="0"/>
              <a:buChar char="•"/>
              <a:tabLst>
                <a:tab pos="1143000" algn="l"/>
              </a:tabLst>
            </a:pPr>
            <a:r>
              <a:rPr lang="en-IN" sz="1500" kern="100" dirty="0">
                <a:latin typeface="Aptos" panose="020B0004020202020204" pitchFamily="34" charset="0"/>
                <a:cs typeface="Times New Roman" panose="02020603050405020304" pitchFamily="18" charset="0"/>
              </a:rPr>
              <a:t>Or go to: My Team &gt; Performance &gt; Q2/H1 Document</a:t>
            </a:r>
          </a:p>
          <a:p>
            <a:pPr marL="285750" indent="-285750">
              <a:lnSpc>
                <a:spcPct val="115000"/>
              </a:lnSpc>
              <a:buSzPts val="1000"/>
              <a:buFont typeface="Arial" panose="020B0604020202020204" pitchFamily="34" charset="0"/>
              <a:buChar char="•"/>
              <a:tabLst>
                <a:tab pos="1143000" algn="l"/>
              </a:tabLst>
            </a:pPr>
            <a:endParaRPr lang="en-IN" sz="1500" kern="100" dirty="0">
              <a:latin typeface="Aptos" panose="020B0004020202020204" pitchFamily="34" charset="0"/>
              <a:cs typeface="Times New Roman" panose="02020603050405020304" pitchFamily="18" charset="0"/>
            </a:endParaRPr>
          </a:p>
          <a:p>
            <a:pPr>
              <a:lnSpc>
                <a:spcPct val="115000"/>
              </a:lnSpc>
              <a:tabLst>
                <a:tab pos="685800" algn="l"/>
              </a:tabLst>
            </a:pPr>
            <a:r>
              <a:rPr lang="en-IN" sz="1500" kern="100" dirty="0">
                <a:latin typeface="Aptos" panose="020B0004020202020204" pitchFamily="34" charset="0"/>
                <a:cs typeface="Times New Roman" panose="02020603050405020304" pitchFamily="18" charset="0"/>
              </a:rPr>
              <a:t>2. : Evaluate Goals:</a:t>
            </a:r>
          </a:p>
          <a:p>
            <a:pPr marL="285750" indent="-285750">
              <a:lnSpc>
                <a:spcPct val="115000"/>
              </a:lnSpc>
              <a:buSzPts val="1000"/>
              <a:buFont typeface="Arial" panose="020B0604020202020204" pitchFamily="34" charset="0"/>
              <a:buChar char="•"/>
              <a:tabLst>
                <a:tab pos="1143000" algn="l"/>
              </a:tabLst>
            </a:pPr>
            <a:r>
              <a:rPr lang="en-IN" sz="1500" kern="100" dirty="0">
                <a:latin typeface="Aptos" panose="020B0004020202020204" pitchFamily="34" charset="0"/>
                <a:cs typeface="Times New Roman" panose="02020603050405020304" pitchFamily="18" charset="0"/>
              </a:rPr>
              <a:t>Rate each goal and add comments</a:t>
            </a:r>
          </a:p>
          <a:p>
            <a:pPr marL="285750" indent="-285750">
              <a:lnSpc>
                <a:spcPct val="115000"/>
              </a:lnSpc>
              <a:buSzPts val="1000"/>
              <a:buFont typeface="Arial" panose="020B0604020202020204" pitchFamily="34" charset="0"/>
              <a:buChar char="•"/>
              <a:tabLst>
                <a:tab pos="1143000" algn="l"/>
              </a:tabLst>
            </a:pPr>
            <a:r>
              <a:rPr lang="en-IN" sz="1500" kern="100" dirty="0">
                <a:latin typeface="Aptos" panose="020B0004020202020204" pitchFamily="34" charset="0"/>
                <a:cs typeface="Times New Roman" panose="02020603050405020304" pitchFamily="18" charset="0"/>
              </a:rPr>
              <a:t>Use ‘Calculate’ in the summary section</a:t>
            </a:r>
          </a:p>
          <a:p>
            <a:pPr marL="285750" indent="-285750">
              <a:lnSpc>
                <a:spcPct val="115000"/>
              </a:lnSpc>
              <a:buSzPts val="1000"/>
              <a:buFont typeface="Arial" panose="020B0604020202020204" pitchFamily="34" charset="0"/>
              <a:buChar char="•"/>
              <a:tabLst>
                <a:tab pos="1143000" algn="l"/>
              </a:tabLst>
            </a:pPr>
            <a:r>
              <a:rPr lang="en-IN" sz="1500" kern="100" dirty="0">
                <a:latin typeface="Aptos" panose="020B0004020202020204" pitchFamily="34" charset="0"/>
                <a:cs typeface="Times New Roman" panose="02020603050405020304" pitchFamily="18" charset="0"/>
              </a:rPr>
              <a:t>Click ‘Save and Close’</a:t>
            </a:r>
          </a:p>
          <a:p>
            <a:pPr>
              <a:lnSpc>
                <a:spcPct val="115000"/>
              </a:lnSpc>
              <a:buSzPts val="1000"/>
              <a:tabLst>
                <a:tab pos="1143000" algn="l"/>
              </a:tabLst>
            </a:pPr>
            <a:endParaRPr lang="en-IN" sz="1500" kern="100" dirty="0">
              <a:latin typeface="Aptos" panose="020B0004020202020204" pitchFamily="34" charset="0"/>
              <a:cs typeface="Times New Roman" panose="02020603050405020304" pitchFamily="18" charset="0"/>
            </a:endParaRPr>
          </a:p>
          <a:p>
            <a:pPr>
              <a:lnSpc>
                <a:spcPct val="115000"/>
              </a:lnSpc>
              <a:tabLst>
                <a:tab pos="685800" algn="l"/>
              </a:tabLst>
            </a:pPr>
            <a:r>
              <a:rPr lang="en-IN" sz="1500" kern="100" dirty="0">
                <a:latin typeface="Aptos" panose="020B0004020202020204" pitchFamily="34" charset="0"/>
                <a:cs typeface="Times New Roman" panose="02020603050405020304" pitchFamily="18" charset="0"/>
              </a:rPr>
              <a:t>3. Submit for Review:</a:t>
            </a:r>
          </a:p>
          <a:p>
            <a:pPr marL="285750" indent="-285750">
              <a:lnSpc>
                <a:spcPct val="115000"/>
              </a:lnSpc>
              <a:buSzPts val="1000"/>
              <a:buFont typeface="Arial" panose="020B0604020202020204" pitchFamily="34" charset="0"/>
              <a:buChar char="•"/>
              <a:tabLst>
                <a:tab pos="1143000" algn="l"/>
              </a:tabLst>
            </a:pPr>
            <a:r>
              <a:rPr lang="en-IN" sz="1500" kern="100" dirty="0">
                <a:latin typeface="Aptos" panose="020B0004020202020204" pitchFamily="34" charset="0"/>
                <a:cs typeface="Times New Roman" panose="02020603050405020304" pitchFamily="18" charset="0"/>
              </a:rPr>
              <a:t>Provide overall rating and comments</a:t>
            </a:r>
          </a:p>
          <a:p>
            <a:pPr marL="285750" indent="-285750">
              <a:lnSpc>
                <a:spcPct val="115000"/>
              </a:lnSpc>
              <a:spcAft>
                <a:spcPts val="800"/>
              </a:spcAft>
              <a:buSzPts val="1000"/>
              <a:buFont typeface="Arial" panose="020B0604020202020204" pitchFamily="34" charset="0"/>
              <a:buChar char="•"/>
              <a:tabLst>
                <a:tab pos="1143000" algn="l"/>
              </a:tabLst>
            </a:pPr>
            <a:r>
              <a:rPr lang="en-IN" sz="1500" kern="100" dirty="0">
                <a:latin typeface="Aptos" panose="020B0004020202020204" pitchFamily="34" charset="0"/>
                <a:cs typeface="Times New Roman" panose="02020603050405020304" pitchFamily="18" charset="0"/>
              </a:rPr>
              <a:t>Click ‘Submit’ twice to send it for reviewer approval</a:t>
            </a:r>
          </a:p>
        </p:txBody>
      </p:sp>
    </p:spTree>
    <p:extLst>
      <p:ext uri="{BB962C8B-B14F-4D97-AF65-F5344CB8AC3E}">
        <p14:creationId xmlns:p14="http://schemas.microsoft.com/office/powerpoint/2010/main" val="2605195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303E7-39F0-3F67-CB39-3E3C01418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A7E71-1052-1315-14EF-DB4E1571C462}"/>
              </a:ext>
            </a:extLst>
          </p:cNvPr>
          <p:cNvSpPr>
            <a:spLocks noGrp="1"/>
          </p:cNvSpPr>
          <p:nvPr>
            <p:ph type="title"/>
          </p:nvPr>
        </p:nvSpPr>
        <p:spPr>
          <a:xfrm>
            <a:off x="406315" y="1072512"/>
            <a:ext cx="11228799" cy="458890"/>
          </a:xfrm>
        </p:spPr>
        <p:txBody>
          <a:bodyPr>
            <a:normAutofit/>
          </a:bodyPr>
          <a:lstStyle/>
          <a:p>
            <a:r>
              <a:rPr lang="en-IN" sz="1800" dirty="0">
                <a:solidFill>
                  <a:schemeClr val="tx1"/>
                </a:solidFill>
              </a:rPr>
              <a:t>Once the employee submits the document notification will trigger to the line manager.</a:t>
            </a:r>
          </a:p>
        </p:txBody>
      </p:sp>
      <p:pic>
        <p:nvPicPr>
          <p:cNvPr id="5" name="Picture 4">
            <a:extLst>
              <a:ext uri="{FF2B5EF4-FFF2-40B4-BE49-F238E27FC236}">
                <a16:creationId xmlns:a16="http://schemas.microsoft.com/office/drawing/2014/main" id="{72BEE266-2611-CD6A-5A71-0A0A178E5873}"/>
              </a:ext>
            </a:extLst>
          </p:cNvPr>
          <p:cNvPicPr>
            <a:picLocks noChangeAspect="1"/>
          </p:cNvPicPr>
          <p:nvPr/>
        </p:nvPicPr>
        <p:blipFill>
          <a:blip r:embed="rId2"/>
          <a:stretch>
            <a:fillRect/>
          </a:stretch>
        </p:blipFill>
        <p:spPr>
          <a:xfrm>
            <a:off x="743080" y="1955548"/>
            <a:ext cx="9773152" cy="4902452"/>
          </a:xfrm>
          <a:prstGeom prst="rect">
            <a:avLst/>
          </a:prstGeom>
        </p:spPr>
      </p:pic>
      <p:sp>
        <p:nvSpPr>
          <p:cNvPr id="3" name="Rectangle 2">
            <a:extLst>
              <a:ext uri="{FF2B5EF4-FFF2-40B4-BE49-F238E27FC236}">
                <a16:creationId xmlns:a16="http://schemas.microsoft.com/office/drawing/2014/main" id="{32D339AA-C047-655A-D0DF-4D5943813F96}"/>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F46B29B-4063-18C7-B572-75385E8FD061}"/>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Manager Evaluation </a:t>
            </a:r>
            <a:endParaRPr lang="en-IN" b="1" dirty="0">
              <a:solidFill>
                <a:schemeClr val="bg1"/>
              </a:solidFill>
            </a:endParaRPr>
          </a:p>
        </p:txBody>
      </p:sp>
    </p:spTree>
    <p:extLst>
      <p:ext uri="{BB962C8B-B14F-4D97-AF65-F5344CB8AC3E}">
        <p14:creationId xmlns:p14="http://schemas.microsoft.com/office/powerpoint/2010/main" val="221234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889FD-7862-CE92-FD5E-759227AFEE7E}"/>
              </a:ext>
            </a:extLst>
          </p:cNvPr>
          <p:cNvSpPr>
            <a:spLocks noGrp="1"/>
          </p:cNvSpPr>
          <p:nvPr>
            <p:ph type="title"/>
          </p:nvPr>
        </p:nvSpPr>
        <p:spPr>
          <a:xfrm>
            <a:off x="129778" y="1235362"/>
            <a:ext cx="11228799" cy="556862"/>
          </a:xfrm>
        </p:spPr>
        <p:txBody>
          <a:bodyPr>
            <a:normAutofit fontScale="90000"/>
          </a:bodyPr>
          <a:lstStyle/>
          <a:p>
            <a:r>
              <a:rPr lang="en-IN" sz="1800" dirty="0">
                <a:solidFill>
                  <a:schemeClr val="tx1"/>
                </a:solidFill>
              </a:rPr>
              <a:t>Manager will click on the link in the notification to go to the document or through below path</a:t>
            </a:r>
            <a:br>
              <a:rPr lang="en-IN" sz="1800" dirty="0">
                <a:solidFill>
                  <a:schemeClr val="tx1"/>
                </a:solidFill>
              </a:rPr>
            </a:br>
            <a:r>
              <a:rPr lang="en-IN" sz="1800" i="1" dirty="0">
                <a:solidFill>
                  <a:schemeClr val="tx1"/>
                </a:solidFill>
              </a:rPr>
              <a:t>My team &gt; Performance &gt; Click on the Q2 / H1 (Mid Year) Document name to open it</a:t>
            </a:r>
          </a:p>
        </p:txBody>
      </p:sp>
      <p:pic>
        <p:nvPicPr>
          <p:cNvPr id="6" name="Picture 5">
            <a:extLst>
              <a:ext uri="{FF2B5EF4-FFF2-40B4-BE49-F238E27FC236}">
                <a16:creationId xmlns:a16="http://schemas.microsoft.com/office/drawing/2014/main" id="{6439FCD6-4D02-180D-F421-41D4AC96C072}"/>
              </a:ext>
            </a:extLst>
          </p:cNvPr>
          <p:cNvPicPr>
            <a:picLocks noChangeAspect="1"/>
          </p:cNvPicPr>
          <p:nvPr/>
        </p:nvPicPr>
        <p:blipFill>
          <a:blip r:embed="rId2"/>
          <a:stretch>
            <a:fillRect/>
          </a:stretch>
        </p:blipFill>
        <p:spPr>
          <a:xfrm>
            <a:off x="310896" y="2209315"/>
            <a:ext cx="4920776" cy="3953690"/>
          </a:xfrm>
          <a:prstGeom prst="rect">
            <a:avLst/>
          </a:prstGeom>
        </p:spPr>
      </p:pic>
      <p:pic>
        <p:nvPicPr>
          <p:cNvPr id="8" name="Picture 7">
            <a:extLst>
              <a:ext uri="{FF2B5EF4-FFF2-40B4-BE49-F238E27FC236}">
                <a16:creationId xmlns:a16="http://schemas.microsoft.com/office/drawing/2014/main" id="{4A6616FE-CE01-A034-D6A8-2A9328EF746A}"/>
              </a:ext>
            </a:extLst>
          </p:cNvPr>
          <p:cNvPicPr>
            <a:picLocks noChangeAspect="1"/>
          </p:cNvPicPr>
          <p:nvPr/>
        </p:nvPicPr>
        <p:blipFill>
          <a:blip r:embed="rId3"/>
          <a:stretch>
            <a:fillRect/>
          </a:stretch>
        </p:blipFill>
        <p:spPr>
          <a:xfrm>
            <a:off x="5744178" y="2209315"/>
            <a:ext cx="4707097" cy="4101838"/>
          </a:xfrm>
          <a:prstGeom prst="rect">
            <a:avLst/>
          </a:prstGeom>
        </p:spPr>
      </p:pic>
      <p:sp>
        <p:nvSpPr>
          <p:cNvPr id="3" name="Rectangle 2">
            <a:extLst>
              <a:ext uri="{FF2B5EF4-FFF2-40B4-BE49-F238E27FC236}">
                <a16:creationId xmlns:a16="http://schemas.microsoft.com/office/drawing/2014/main" id="{66B5C89A-BA21-9777-629C-98A6D60F74AC}"/>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266EC31-E595-022D-14A4-02B1D4A1D199}"/>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Manager Evaluation – Performance Document</a:t>
            </a:r>
            <a:endParaRPr lang="en-IN" b="1" dirty="0">
              <a:solidFill>
                <a:schemeClr val="bg1"/>
              </a:solidFill>
            </a:endParaRPr>
          </a:p>
        </p:txBody>
      </p:sp>
    </p:spTree>
    <p:extLst>
      <p:ext uri="{BB962C8B-B14F-4D97-AF65-F5344CB8AC3E}">
        <p14:creationId xmlns:p14="http://schemas.microsoft.com/office/powerpoint/2010/main" val="4122138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18E0-497F-CE56-4218-3E96AA46CA3C}"/>
              </a:ext>
            </a:extLst>
          </p:cNvPr>
          <p:cNvSpPr>
            <a:spLocks noGrp="1"/>
          </p:cNvSpPr>
          <p:nvPr>
            <p:ph type="title"/>
          </p:nvPr>
        </p:nvSpPr>
        <p:spPr>
          <a:xfrm>
            <a:off x="1353312" y="1548428"/>
            <a:ext cx="10263514" cy="200939"/>
          </a:xfrm>
        </p:spPr>
        <p:txBody>
          <a:bodyPr>
            <a:normAutofit fontScale="90000"/>
          </a:bodyPr>
          <a:lstStyle/>
          <a:p>
            <a:r>
              <a:rPr lang="en-IN" sz="1800" dirty="0">
                <a:solidFill>
                  <a:schemeClr val="tx1"/>
                </a:solidFill>
              </a:rPr>
              <a:t>Go the goal section and give rating and comment for goal item and click ‘Save and Next’</a:t>
            </a:r>
            <a:br>
              <a:rPr lang="en-IN" sz="1800" dirty="0">
                <a:solidFill>
                  <a:schemeClr val="tx1"/>
                </a:solidFill>
              </a:rPr>
            </a:br>
            <a:r>
              <a:rPr lang="en-IN" sz="1800" dirty="0">
                <a:solidFill>
                  <a:schemeClr val="tx1"/>
                </a:solidFill>
              </a:rPr>
              <a:t>Repeat the same process for each goal item.</a:t>
            </a:r>
            <a:br>
              <a:rPr lang="en-IN" sz="1800" dirty="0">
                <a:solidFill>
                  <a:schemeClr val="tx1"/>
                </a:solidFill>
              </a:rPr>
            </a:br>
            <a:r>
              <a:rPr lang="en-IN" sz="1800" dirty="0">
                <a:solidFill>
                  <a:schemeClr val="tx1"/>
                </a:solidFill>
              </a:rPr>
              <a:t>In the goals summary section click on ‘Calculate’ to find calculated rating then give comments and click ‘Save and Close’.</a:t>
            </a:r>
          </a:p>
        </p:txBody>
      </p:sp>
      <p:pic>
        <p:nvPicPr>
          <p:cNvPr id="6" name="Picture 5">
            <a:extLst>
              <a:ext uri="{FF2B5EF4-FFF2-40B4-BE49-F238E27FC236}">
                <a16:creationId xmlns:a16="http://schemas.microsoft.com/office/drawing/2014/main" id="{FA90D0FF-62F9-6227-2B1D-616D139B3769}"/>
              </a:ext>
            </a:extLst>
          </p:cNvPr>
          <p:cNvPicPr>
            <a:picLocks noChangeAspect="1"/>
          </p:cNvPicPr>
          <p:nvPr/>
        </p:nvPicPr>
        <p:blipFill>
          <a:blip r:embed="rId2"/>
          <a:stretch>
            <a:fillRect/>
          </a:stretch>
        </p:blipFill>
        <p:spPr>
          <a:xfrm>
            <a:off x="6081890" y="2167644"/>
            <a:ext cx="3740342" cy="1557179"/>
          </a:xfrm>
          <a:prstGeom prst="rect">
            <a:avLst/>
          </a:prstGeom>
        </p:spPr>
      </p:pic>
      <p:pic>
        <p:nvPicPr>
          <p:cNvPr id="8" name="Picture 7">
            <a:extLst>
              <a:ext uri="{FF2B5EF4-FFF2-40B4-BE49-F238E27FC236}">
                <a16:creationId xmlns:a16="http://schemas.microsoft.com/office/drawing/2014/main" id="{67B2186B-5802-9FA6-5289-E7890707CE2E}"/>
              </a:ext>
            </a:extLst>
          </p:cNvPr>
          <p:cNvPicPr>
            <a:picLocks noChangeAspect="1"/>
          </p:cNvPicPr>
          <p:nvPr/>
        </p:nvPicPr>
        <p:blipFill>
          <a:blip r:embed="rId3"/>
          <a:stretch>
            <a:fillRect/>
          </a:stretch>
        </p:blipFill>
        <p:spPr>
          <a:xfrm>
            <a:off x="1435608" y="2167644"/>
            <a:ext cx="4268506" cy="3573309"/>
          </a:xfrm>
          <a:prstGeom prst="rect">
            <a:avLst/>
          </a:prstGeom>
        </p:spPr>
      </p:pic>
      <p:pic>
        <p:nvPicPr>
          <p:cNvPr id="4" name="Picture 3">
            <a:extLst>
              <a:ext uri="{FF2B5EF4-FFF2-40B4-BE49-F238E27FC236}">
                <a16:creationId xmlns:a16="http://schemas.microsoft.com/office/drawing/2014/main" id="{28B226EE-9036-11DF-7FE9-90C501CD6D62}"/>
              </a:ext>
            </a:extLst>
          </p:cNvPr>
          <p:cNvPicPr>
            <a:picLocks noChangeAspect="1"/>
          </p:cNvPicPr>
          <p:nvPr/>
        </p:nvPicPr>
        <p:blipFill>
          <a:blip r:embed="rId4"/>
          <a:stretch>
            <a:fillRect/>
          </a:stretch>
        </p:blipFill>
        <p:spPr>
          <a:xfrm>
            <a:off x="6081890" y="3769795"/>
            <a:ext cx="4674502" cy="2006120"/>
          </a:xfrm>
          <a:prstGeom prst="rect">
            <a:avLst/>
          </a:prstGeom>
        </p:spPr>
      </p:pic>
      <p:sp>
        <p:nvSpPr>
          <p:cNvPr id="3" name="Rectangle 2">
            <a:extLst>
              <a:ext uri="{FF2B5EF4-FFF2-40B4-BE49-F238E27FC236}">
                <a16:creationId xmlns:a16="http://schemas.microsoft.com/office/drawing/2014/main" id="{0F0E4D43-BC05-1F4D-2A41-CF396D777CA6}"/>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2C03D28-11CA-9CEF-72F7-256E942CB46C}"/>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Manager Evaluation – Performance Document</a:t>
            </a:r>
            <a:endParaRPr lang="en-IN" b="1" dirty="0">
              <a:solidFill>
                <a:schemeClr val="bg1"/>
              </a:solidFill>
            </a:endParaRPr>
          </a:p>
        </p:txBody>
      </p:sp>
    </p:spTree>
    <p:extLst>
      <p:ext uri="{BB962C8B-B14F-4D97-AF65-F5344CB8AC3E}">
        <p14:creationId xmlns:p14="http://schemas.microsoft.com/office/powerpoint/2010/main" val="2039654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81A6F-4C92-C158-2AA2-16B4367ADA28}"/>
              </a:ext>
            </a:extLst>
          </p:cNvPr>
          <p:cNvSpPr>
            <a:spLocks noGrp="1"/>
          </p:cNvSpPr>
          <p:nvPr>
            <p:ph type="title"/>
          </p:nvPr>
        </p:nvSpPr>
        <p:spPr>
          <a:xfrm>
            <a:off x="420624" y="866344"/>
            <a:ext cx="11228799" cy="1143200"/>
          </a:xfrm>
        </p:spPr>
        <p:txBody>
          <a:bodyPr>
            <a:normAutofit/>
          </a:bodyPr>
          <a:lstStyle/>
          <a:p>
            <a:r>
              <a:rPr lang="en-IN" sz="1500" dirty="0">
                <a:solidFill>
                  <a:schemeClr val="tx1"/>
                </a:solidFill>
              </a:rPr>
              <a:t>1.Scroll down to the </a:t>
            </a:r>
            <a:r>
              <a:rPr lang="en-IN" sz="1500" b="1" dirty="0">
                <a:solidFill>
                  <a:schemeClr val="tx1"/>
                </a:solidFill>
              </a:rPr>
              <a:t>‘Overall Summary’ </a:t>
            </a:r>
            <a:r>
              <a:rPr lang="en-IN" sz="1500" dirty="0">
                <a:solidFill>
                  <a:schemeClr val="tx1"/>
                </a:solidFill>
              </a:rPr>
              <a:t>section and give overall rating and comment </a:t>
            </a:r>
            <a:br>
              <a:rPr lang="en-IN" sz="1500" dirty="0">
                <a:solidFill>
                  <a:schemeClr val="tx1"/>
                </a:solidFill>
              </a:rPr>
            </a:br>
            <a:r>
              <a:rPr lang="en-IN" sz="1500" dirty="0">
                <a:solidFill>
                  <a:schemeClr val="tx1"/>
                </a:solidFill>
              </a:rPr>
              <a:t>2.After filling all the ratings and comments click on ‘</a:t>
            </a:r>
            <a:r>
              <a:rPr lang="en-IN" sz="1500" b="1" dirty="0">
                <a:solidFill>
                  <a:schemeClr val="tx1"/>
                </a:solidFill>
              </a:rPr>
              <a:t>Submit’</a:t>
            </a:r>
            <a:br>
              <a:rPr lang="en-IN" sz="1500" dirty="0">
                <a:solidFill>
                  <a:schemeClr val="tx1"/>
                </a:solidFill>
              </a:rPr>
            </a:br>
            <a:r>
              <a:rPr lang="en-IN" sz="1500" dirty="0">
                <a:solidFill>
                  <a:schemeClr val="tx1"/>
                </a:solidFill>
              </a:rPr>
              <a:t>3.Again click on </a:t>
            </a:r>
            <a:r>
              <a:rPr lang="en-IN" sz="1500" b="1" dirty="0">
                <a:solidFill>
                  <a:schemeClr val="tx1"/>
                </a:solidFill>
              </a:rPr>
              <a:t>‘Submit’ </a:t>
            </a:r>
            <a:r>
              <a:rPr lang="en-IN" sz="1500" dirty="0">
                <a:solidFill>
                  <a:schemeClr val="tx1"/>
                </a:solidFill>
              </a:rPr>
              <a:t>to submit the document for approval.</a:t>
            </a:r>
          </a:p>
        </p:txBody>
      </p:sp>
      <p:pic>
        <p:nvPicPr>
          <p:cNvPr id="6" name="Picture 5">
            <a:extLst>
              <a:ext uri="{FF2B5EF4-FFF2-40B4-BE49-F238E27FC236}">
                <a16:creationId xmlns:a16="http://schemas.microsoft.com/office/drawing/2014/main" id="{FD4E07DC-F332-5300-97E6-D1423A5D4149}"/>
              </a:ext>
            </a:extLst>
          </p:cNvPr>
          <p:cNvPicPr>
            <a:picLocks noChangeAspect="1"/>
          </p:cNvPicPr>
          <p:nvPr/>
        </p:nvPicPr>
        <p:blipFill>
          <a:blip r:embed="rId2"/>
          <a:stretch>
            <a:fillRect/>
          </a:stretch>
        </p:blipFill>
        <p:spPr>
          <a:xfrm>
            <a:off x="420624" y="2272384"/>
            <a:ext cx="4189589" cy="3785259"/>
          </a:xfrm>
          <a:prstGeom prst="rect">
            <a:avLst/>
          </a:prstGeom>
        </p:spPr>
      </p:pic>
      <p:pic>
        <p:nvPicPr>
          <p:cNvPr id="8" name="Picture 7">
            <a:extLst>
              <a:ext uri="{FF2B5EF4-FFF2-40B4-BE49-F238E27FC236}">
                <a16:creationId xmlns:a16="http://schemas.microsoft.com/office/drawing/2014/main" id="{29E664FF-1CFC-1769-DFCB-1D286335F545}"/>
              </a:ext>
            </a:extLst>
          </p:cNvPr>
          <p:cNvPicPr>
            <a:picLocks noChangeAspect="1"/>
          </p:cNvPicPr>
          <p:nvPr/>
        </p:nvPicPr>
        <p:blipFill>
          <a:blip r:embed="rId3"/>
          <a:stretch>
            <a:fillRect/>
          </a:stretch>
        </p:blipFill>
        <p:spPr>
          <a:xfrm>
            <a:off x="4733980" y="2272384"/>
            <a:ext cx="4362488" cy="1420486"/>
          </a:xfrm>
          <a:prstGeom prst="rect">
            <a:avLst/>
          </a:prstGeom>
        </p:spPr>
      </p:pic>
      <p:pic>
        <p:nvPicPr>
          <p:cNvPr id="5" name="Picture 4">
            <a:extLst>
              <a:ext uri="{FF2B5EF4-FFF2-40B4-BE49-F238E27FC236}">
                <a16:creationId xmlns:a16="http://schemas.microsoft.com/office/drawing/2014/main" id="{5F1EAFC0-13CC-B98F-CCF7-CBEB6DF9C461}"/>
              </a:ext>
            </a:extLst>
          </p:cNvPr>
          <p:cNvPicPr>
            <a:picLocks noChangeAspect="1"/>
          </p:cNvPicPr>
          <p:nvPr/>
        </p:nvPicPr>
        <p:blipFill>
          <a:blip r:embed="rId4"/>
          <a:stretch>
            <a:fillRect/>
          </a:stretch>
        </p:blipFill>
        <p:spPr>
          <a:xfrm>
            <a:off x="4733980" y="3483822"/>
            <a:ext cx="3369809" cy="2676463"/>
          </a:xfrm>
          <a:prstGeom prst="rect">
            <a:avLst/>
          </a:prstGeom>
        </p:spPr>
      </p:pic>
      <p:sp>
        <p:nvSpPr>
          <p:cNvPr id="3" name="Rectangle 2">
            <a:extLst>
              <a:ext uri="{FF2B5EF4-FFF2-40B4-BE49-F238E27FC236}">
                <a16:creationId xmlns:a16="http://schemas.microsoft.com/office/drawing/2014/main" id="{ADEA4EC4-22C2-9AC9-33ED-5FFB4FA05ECF}"/>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A054786-4C0C-FA37-B33B-5C7DC28D5733}"/>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Manager Evaluation – Performance Document</a:t>
            </a:r>
            <a:endParaRPr lang="en-IN" b="1" dirty="0">
              <a:solidFill>
                <a:schemeClr val="bg1"/>
              </a:solidFill>
            </a:endParaRPr>
          </a:p>
        </p:txBody>
      </p:sp>
    </p:spTree>
    <p:extLst>
      <p:ext uri="{BB962C8B-B14F-4D97-AF65-F5344CB8AC3E}">
        <p14:creationId xmlns:p14="http://schemas.microsoft.com/office/powerpoint/2010/main" val="69185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8114" name="Picture 2" descr="14H00493"/>
          <p:cNvPicPr>
            <a:picLocks noChangeAspect="1" noChangeArrowheads="1"/>
          </p:cNvPicPr>
          <p:nvPr/>
        </p:nvPicPr>
        <p:blipFill>
          <a:blip r:embed="rId3" cstate="print"/>
          <a:srcRect/>
          <a:stretch>
            <a:fillRect/>
          </a:stretch>
        </p:blipFill>
        <p:spPr bwMode="auto">
          <a:xfrm>
            <a:off x="0" y="0"/>
            <a:ext cx="12192000" cy="6858000"/>
          </a:xfrm>
          <a:prstGeom prst="rect">
            <a:avLst/>
          </a:prstGeom>
          <a:noFill/>
        </p:spPr>
      </p:pic>
      <p:sp>
        <p:nvSpPr>
          <p:cNvPr id="858115" name="Freeform 3"/>
          <p:cNvSpPr>
            <a:spLocks/>
          </p:cNvSpPr>
          <p:nvPr/>
        </p:nvSpPr>
        <p:spPr bwMode="auto">
          <a:xfrm>
            <a:off x="1242557" y="3581403"/>
            <a:ext cx="7017588" cy="1246188"/>
          </a:xfrm>
          <a:custGeom>
            <a:avLst/>
            <a:gdLst/>
            <a:ahLst/>
            <a:cxnLst>
              <a:cxn ang="0">
                <a:pos x="4888" y="0"/>
              </a:cxn>
              <a:cxn ang="0">
                <a:pos x="0" y="1"/>
              </a:cxn>
              <a:cxn ang="0">
                <a:pos x="0" y="865"/>
              </a:cxn>
              <a:cxn ang="0">
                <a:pos x="4718" y="865"/>
              </a:cxn>
              <a:cxn ang="0">
                <a:pos x="4888" y="0"/>
              </a:cxn>
            </a:cxnLst>
            <a:rect l="0" t="0" r="r" b="b"/>
            <a:pathLst>
              <a:path w="4888" h="865">
                <a:moveTo>
                  <a:pt x="4888" y="0"/>
                </a:moveTo>
                <a:lnTo>
                  <a:pt x="0" y="1"/>
                </a:lnTo>
                <a:lnTo>
                  <a:pt x="0" y="865"/>
                </a:lnTo>
                <a:lnTo>
                  <a:pt x="4718" y="865"/>
                </a:lnTo>
                <a:lnTo>
                  <a:pt x="4888" y="0"/>
                </a:lnTo>
                <a:close/>
              </a:path>
            </a:pathLst>
          </a:custGeom>
          <a:solidFill>
            <a:schemeClr val="tx1"/>
          </a:solidFill>
          <a:ln w="9525">
            <a:noFill/>
            <a:round/>
            <a:headEnd/>
            <a:tailEnd/>
          </a:ln>
          <a:effectLst/>
        </p:spPr>
        <p:txBody>
          <a:bodyPr lIns="90113" tIns="45057" rIns="90113" bIns="45057"/>
          <a:lstStyle/>
          <a:p>
            <a:pPr defTabSz="826061"/>
            <a:endParaRPr lang="en-US" sz="1265" dirty="0"/>
          </a:p>
        </p:txBody>
      </p:sp>
      <p:sp>
        <p:nvSpPr>
          <p:cNvPr id="858116" name="Text Box 4"/>
          <p:cNvSpPr txBox="1">
            <a:spLocks noChangeArrowheads="1"/>
          </p:cNvSpPr>
          <p:nvPr/>
        </p:nvSpPr>
        <p:spPr bwMode="auto">
          <a:xfrm>
            <a:off x="1691807" y="3997327"/>
            <a:ext cx="4418136" cy="528637"/>
          </a:xfrm>
          <a:prstGeom prst="rect">
            <a:avLst/>
          </a:prstGeom>
          <a:noFill/>
          <a:ln w="9525">
            <a:noFill/>
            <a:miter lim="800000"/>
            <a:headEnd/>
            <a:tailEnd/>
          </a:ln>
          <a:effectLst/>
        </p:spPr>
        <p:txBody>
          <a:bodyPr lIns="82772" tIns="41385" rIns="82772" bIns="41385">
            <a:spAutoFit/>
          </a:bodyPr>
          <a:lstStyle/>
          <a:p>
            <a:pPr defTabSz="943391">
              <a:spcBef>
                <a:spcPct val="50000"/>
              </a:spcBef>
            </a:pPr>
            <a:r>
              <a:rPr lang="en-US" sz="2892" b="1" i="1" dirty="0">
                <a:solidFill>
                  <a:schemeClr val="bg2"/>
                </a:solidFill>
                <a:latin typeface="EYInterstate Light" panose="02000506000000020004" pitchFamily="2" charset="0"/>
              </a:rPr>
              <a:t>Reviewer Related Tasks</a:t>
            </a:r>
            <a:endParaRPr lang="en-US" sz="2892" i="1" dirty="0">
              <a:solidFill>
                <a:schemeClr val="bg2"/>
              </a:solidFill>
              <a:latin typeface="EYInterstate Light" panose="02000506000000020004" pitchFamily="2" charset="0"/>
            </a:endParaRPr>
          </a:p>
        </p:txBody>
      </p:sp>
    </p:spTree>
    <p:extLst>
      <p:ext uri="{BB962C8B-B14F-4D97-AF65-F5344CB8AC3E}">
        <p14:creationId xmlns:p14="http://schemas.microsoft.com/office/powerpoint/2010/main" val="2158643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2EA32-728C-7791-7DC4-1A39EB3F4921}"/>
              </a:ext>
            </a:extLst>
          </p:cNvPr>
          <p:cNvSpPr>
            <a:spLocks noGrp="1"/>
          </p:cNvSpPr>
          <p:nvPr>
            <p:ph type="title"/>
          </p:nvPr>
        </p:nvSpPr>
        <p:spPr>
          <a:xfrm>
            <a:off x="731520" y="1481328"/>
            <a:ext cx="9788026" cy="893064"/>
          </a:xfrm>
        </p:spPr>
        <p:txBody>
          <a:bodyPr>
            <a:noAutofit/>
          </a:bodyPr>
          <a:lstStyle/>
          <a:p>
            <a:r>
              <a:rPr lang="en-IN" sz="1500" dirty="0">
                <a:solidFill>
                  <a:schemeClr val="tx1"/>
                </a:solidFill>
              </a:rPr>
              <a:t>Approval by Reviewer</a:t>
            </a:r>
            <a:br>
              <a:rPr lang="en-IN" sz="1500" dirty="0">
                <a:solidFill>
                  <a:schemeClr val="tx1"/>
                </a:solidFill>
              </a:rPr>
            </a:br>
            <a:r>
              <a:rPr lang="en-IN" sz="1500" dirty="0">
                <a:solidFill>
                  <a:schemeClr val="tx1"/>
                </a:solidFill>
              </a:rPr>
              <a:t>There are three ways to approve</a:t>
            </a:r>
            <a:br>
              <a:rPr lang="en-IN" sz="1500" dirty="0">
                <a:solidFill>
                  <a:schemeClr val="tx1"/>
                </a:solidFill>
              </a:rPr>
            </a:br>
            <a:r>
              <a:rPr lang="en-IN" sz="1500" dirty="0">
                <a:solidFill>
                  <a:schemeClr val="tx1"/>
                </a:solidFill>
              </a:rPr>
              <a:t>1. Approving directly from the notification as shown below</a:t>
            </a:r>
            <a:br>
              <a:rPr lang="en-IN" sz="1500" dirty="0">
                <a:solidFill>
                  <a:schemeClr val="tx1"/>
                </a:solidFill>
              </a:rPr>
            </a:br>
            <a:r>
              <a:rPr lang="en-IN" sz="1500" dirty="0">
                <a:solidFill>
                  <a:schemeClr val="tx1"/>
                </a:solidFill>
              </a:rPr>
              <a:t>2. By accessing the performance document from the notification (shown in the subsequent slides) and then approving the same</a:t>
            </a:r>
            <a:br>
              <a:rPr lang="en-IN" sz="1500" dirty="0">
                <a:solidFill>
                  <a:schemeClr val="tx1"/>
                </a:solidFill>
              </a:rPr>
            </a:br>
            <a:r>
              <a:rPr lang="en-IN" sz="1500" dirty="0">
                <a:solidFill>
                  <a:schemeClr val="tx1"/>
                </a:solidFill>
              </a:rPr>
              <a:t>3. By accessing the performance document from My Team &gt; Performance Overview and approving it</a:t>
            </a:r>
          </a:p>
        </p:txBody>
      </p:sp>
      <p:pic>
        <p:nvPicPr>
          <p:cNvPr id="5" name="Picture 4">
            <a:extLst>
              <a:ext uri="{FF2B5EF4-FFF2-40B4-BE49-F238E27FC236}">
                <a16:creationId xmlns:a16="http://schemas.microsoft.com/office/drawing/2014/main" id="{E2DE5EDE-C3B4-E7C9-9211-3EA4E96E2979}"/>
              </a:ext>
            </a:extLst>
          </p:cNvPr>
          <p:cNvPicPr>
            <a:picLocks noChangeAspect="1"/>
          </p:cNvPicPr>
          <p:nvPr/>
        </p:nvPicPr>
        <p:blipFill>
          <a:blip r:embed="rId2"/>
          <a:stretch>
            <a:fillRect/>
          </a:stretch>
        </p:blipFill>
        <p:spPr>
          <a:xfrm>
            <a:off x="850392" y="2868912"/>
            <a:ext cx="8119872" cy="3366861"/>
          </a:xfrm>
          <a:prstGeom prst="rect">
            <a:avLst/>
          </a:prstGeom>
        </p:spPr>
      </p:pic>
      <p:sp>
        <p:nvSpPr>
          <p:cNvPr id="3" name="Rectangle 2">
            <a:extLst>
              <a:ext uri="{FF2B5EF4-FFF2-40B4-BE49-F238E27FC236}">
                <a16:creationId xmlns:a16="http://schemas.microsoft.com/office/drawing/2014/main" id="{0E4AD251-1103-DACD-E2ED-6F7D623179F2}"/>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387A642-4DF5-A2F5-5314-E88F43500469}"/>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Reviewer Related Tasks</a:t>
            </a:r>
            <a:endParaRPr lang="en-IN" b="1" dirty="0">
              <a:solidFill>
                <a:schemeClr val="bg1"/>
              </a:solidFill>
            </a:endParaRPr>
          </a:p>
        </p:txBody>
      </p:sp>
    </p:spTree>
    <p:extLst>
      <p:ext uri="{BB962C8B-B14F-4D97-AF65-F5344CB8AC3E}">
        <p14:creationId xmlns:p14="http://schemas.microsoft.com/office/powerpoint/2010/main" val="3175472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570A8-4119-6BF6-9E4F-43201D6D2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4D584-7BD9-0181-D951-6D78A06E363C}"/>
              </a:ext>
            </a:extLst>
          </p:cNvPr>
          <p:cNvSpPr>
            <a:spLocks noGrp="1"/>
          </p:cNvSpPr>
          <p:nvPr>
            <p:ph type="title"/>
          </p:nvPr>
        </p:nvSpPr>
        <p:spPr>
          <a:xfrm>
            <a:off x="274320" y="1170432"/>
            <a:ext cx="12371832" cy="4032504"/>
          </a:xfrm>
        </p:spPr>
        <p:txBody>
          <a:bodyPr>
            <a:noAutofit/>
          </a:bodyPr>
          <a:lstStyle/>
          <a:p>
            <a:pPr lvl="0">
              <a:lnSpc>
                <a:spcPct val="115000"/>
              </a:lnSpc>
              <a:tabLst>
                <a:tab pos="914400" algn="l"/>
              </a:tabLst>
            </a:pPr>
            <a:r>
              <a:rPr lang="en-IN" sz="1500" dirty="0">
                <a:solidFill>
                  <a:schemeClr val="tx1"/>
                </a:solidFill>
              </a:rPr>
              <a:t>Approval by Reviewer</a:t>
            </a:r>
            <a:br>
              <a:rPr lang="en-IN" sz="1500" dirty="0">
                <a:solidFill>
                  <a:schemeClr val="tx1"/>
                </a:solidFill>
              </a:rPr>
            </a:br>
            <a:r>
              <a:rPr lang="en-IN" sz="1500" dirty="0">
                <a:solidFill>
                  <a:schemeClr val="tx1"/>
                </a:solidFill>
              </a:rPr>
              <a:t>There are three ways to approve : </a:t>
            </a:r>
            <a:br>
              <a:rPr lang="en-IN" sz="1500" dirty="0">
                <a:solidFill>
                  <a:schemeClr val="tx1"/>
                </a:solidFill>
              </a:rPr>
            </a:br>
            <a:r>
              <a:rPr lang="en-IN" sz="1500" dirty="0">
                <a:solidFill>
                  <a:schemeClr val="tx1"/>
                </a:solidFill>
              </a:rPr>
              <a:t>1. Approving directly from the notification as shown below</a:t>
            </a:r>
            <a:br>
              <a:rPr lang="en-IN" sz="1500" dirty="0">
                <a:solidFill>
                  <a:schemeClr val="tx1"/>
                </a:solidFill>
              </a:rPr>
            </a:br>
            <a:r>
              <a:rPr lang="en-IN" sz="1500" dirty="0">
                <a:solidFill>
                  <a:schemeClr val="tx1"/>
                </a:solidFill>
              </a:rPr>
              <a:t>2. By accessing the performance document from the notification (shown in the subsequent slides) and then approving the same</a:t>
            </a:r>
            <a:br>
              <a:rPr lang="en-IN" sz="1500" dirty="0">
                <a:solidFill>
                  <a:schemeClr val="tx1"/>
                </a:solidFill>
              </a:rPr>
            </a:br>
            <a:r>
              <a:rPr lang="en-IN" sz="1500" dirty="0">
                <a:solidFill>
                  <a:schemeClr val="tx1"/>
                </a:solidFill>
              </a:rPr>
              <a:t>3. By accessing the performance document from My Team &gt; Performance Overview and approving it through : </a:t>
            </a:r>
            <a:br>
              <a:rPr lang="en-IN" sz="1500" dirty="0">
                <a:solidFill>
                  <a:schemeClr val="tx1"/>
                </a:solidFill>
              </a:rPr>
            </a:br>
            <a: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My Team &gt; Performance Overview</a:t>
            </a:r>
            <a:b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br>
            <a: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Steps to approve:</a:t>
            </a:r>
            <a:b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br>
            <a: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Select the review period</a:t>
            </a:r>
            <a:b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br>
            <a: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Locate the employee</a:t>
            </a:r>
            <a:b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br>
            <a: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Click on their name to open the document</a:t>
            </a:r>
            <a:b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br>
            <a: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Click ‘See details’</a:t>
            </a:r>
            <a:b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br>
            <a:r>
              <a:rPr lang="en-IN"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Then ‘Approve’ and finally ‘Submit’</a:t>
            </a:r>
            <a:br>
              <a:rPr lang="en-IN" sz="1500" dirty="0">
                <a:solidFill>
                  <a:schemeClr val="tx1"/>
                </a:solidFill>
              </a:rPr>
            </a:br>
            <a:br>
              <a:rPr lang="en-IN" sz="1500" dirty="0">
                <a:solidFill>
                  <a:schemeClr val="tx1"/>
                </a:solidFill>
              </a:rPr>
            </a:br>
            <a:endParaRPr lang="en-IN" sz="1500" dirty="0">
              <a:solidFill>
                <a:schemeClr val="tx1"/>
              </a:solidFill>
            </a:endParaRPr>
          </a:p>
        </p:txBody>
      </p:sp>
      <p:sp>
        <p:nvSpPr>
          <p:cNvPr id="3" name="Rectangle 2">
            <a:extLst>
              <a:ext uri="{FF2B5EF4-FFF2-40B4-BE49-F238E27FC236}">
                <a16:creationId xmlns:a16="http://schemas.microsoft.com/office/drawing/2014/main" id="{8531385F-3115-1C7A-82A3-36D0344C7860}"/>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20547DA-78EB-D232-D44A-02BE36BF47F1}"/>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Reviewer Related Tasks</a:t>
            </a:r>
            <a:endParaRPr lang="en-IN" b="1" dirty="0">
              <a:solidFill>
                <a:schemeClr val="bg1"/>
              </a:solidFill>
            </a:endParaRPr>
          </a:p>
        </p:txBody>
      </p:sp>
    </p:spTree>
    <p:extLst>
      <p:ext uri="{BB962C8B-B14F-4D97-AF65-F5344CB8AC3E}">
        <p14:creationId xmlns:p14="http://schemas.microsoft.com/office/powerpoint/2010/main" val="2671512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39A46-893D-C38A-0A71-BFF4BBB31EFE}"/>
              </a:ext>
            </a:extLst>
          </p:cNvPr>
          <p:cNvSpPr>
            <a:spLocks noGrp="1"/>
          </p:cNvSpPr>
          <p:nvPr>
            <p:ph type="title"/>
          </p:nvPr>
        </p:nvSpPr>
        <p:spPr>
          <a:xfrm>
            <a:off x="175781" y="877176"/>
            <a:ext cx="11228799" cy="448005"/>
          </a:xfrm>
        </p:spPr>
        <p:txBody>
          <a:bodyPr>
            <a:normAutofit/>
          </a:bodyPr>
          <a:lstStyle/>
          <a:p>
            <a:r>
              <a:rPr lang="en-IN" sz="1500" dirty="0">
                <a:solidFill>
                  <a:schemeClr val="tx1"/>
                </a:solidFill>
              </a:rPr>
              <a:t>Accessing the performance document from the notification</a:t>
            </a:r>
          </a:p>
        </p:txBody>
      </p:sp>
      <p:pic>
        <p:nvPicPr>
          <p:cNvPr id="5" name="Picture 4">
            <a:extLst>
              <a:ext uri="{FF2B5EF4-FFF2-40B4-BE49-F238E27FC236}">
                <a16:creationId xmlns:a16="http://schemas.microsoft.com/office/drawing/2014/main" id="{060FB84C-4795-C78D-9598-8DD50D31325F}"/>
              </a:ext>
            </a:extLst>
          </p:cNvPr>
          <p:cNvPicPr>
            <a:picLocks noChangeAspect="1"/>
          </p:cNvPicPr>
          <p:nvPr/>
        </p:nvPicPr>
        <p:blipFill>
          <a:blip r:embed="rId2"/>
          <a:stretch>
            <a:fillRect/>
          </a:stretch>
        </p:blipFill>
        <p:spPr>
          <a:xfrm>
            <a:off x="175781" y="1965960"/>
            <a:ext cx="2154817" cy="2671467"/>
          </a:xfrm>
          <a:prstGeom prst="rect">
            <a:avLst/>
          </a:prstGeom>
        </p:spPr>
      </p:pic>
      <p:pic>
        <p:nvPicPr>
          <p:cNvPr id="8" name="Picture 7">
            <a:extLst>
              <a:ext uri="{FF2B5EF4-FFF2-40B4-BE49-F238E27FC236}">
                <a16:creationId xmlns:a16="http://schemas.microsoft.com/office/drawing/2014/main" id="{D09A0D01-F228-2D11-9900-3F91F8A54DAA}"/>
              </a:ext>
            </a:extLst>
          </p:cNvPr>
          <p:cNvPicPr>
            <a:picLocks noChangeAspect="1"/>
          </p:cNvPicPr>
          <p:nvPr/>
        </p:nvPicPr>
        <p:blipFill>
          <a:blip r:embed="rId3"/>
          <a:stretch>
            <a:fillRect/>
          </a:stretch>
        </p:blipFill>
        <p:spPr>
          <a:xfrm>
            <a:off x="3504765" y="1782406"/>
            <a:ext cx="3274423" cy="3601331"/>
          </a:xfrm>
          <a:prstGeom prst="rect">
            <a:avLst/>
          </a:prstGeom>
        </p:spPr>
      </p:pic>
      <p:pic>
        <p:nvPicPr>
          <p:cNvPr id="10" name="Picture 9">
            <a:extLst>
              <a:ext uri="{FF2B5EF4-FFF2-40B4-BE49-F238E27FC236}">
                <a16:creationId xmlns:a16="http://schemas.microsoft.com/office/drawing/2014/main" id="{807253F9-00A1-D092-5B65-2553B1021B99}"/>
              </a:ext>
            </a:extLst>
          </p:cNvPr>
          <p:cNvPicPr>
            <a:picLocks noChangeAspect="1"/>
          </p:cNvPicPr>
          <p:nvPr/>
        </p:nvPicPr>
        <p:blipFill>
          <a:blip r:embed="rId4"/>
          <a:stretch>
            <a:fillRect/>
          </a:stretch>
        </p:blipFill>
        <p:spPr>
          <a:xfrm>
            <a:off x="7050024" y="1782406"/>
            <a:ext cx="3699400" cy="4030564"/>
          </a:xfrm>
          <a:prstGeom prst="rect">
            <a:avLst/>
          </a:prstGeom>
        </p:spPr>
      </p:pic>
      <p:sp>
        <p:nvSpPr>
          <p:cNvPr id="3" name="Rectangle 2">
            <a:extLst>
              <a:ext uri="{FF2B5EF4-FFF2-40B4-BE49-F238E27FC236}">
                <a16:creationId xmlns:a16="http://schemas.microsoft.com/office/drawing/2014/main" id="{9CFBB6AB-16B0-93EF-C78D-4F534C870BCB}"/>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68ABBA8-F687-AA1D-CE40-FC7318A2FC7D}"/>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Reviewer Related Tasks</a:t>
            </a:r>
            <a:endParaRPr lang="en-IN" b="1" dirty="0">
              <a:solidFill>
                <a:schemeClr val="bg1"/>
              </a:solidFill>
            </a:endParaRPr>
          </a:p>
        </p:txBody>
      </p:sp>
    </p:spTree>
    <p:extLst>
      <p:ext uri="{BB962C8B-B14F-4D97-AF65-F5344CB8AC3E}">
        <p14:creationId xmlns:p14="http://schemas.microsoft.com/office/powerpoint/2010/main" val="1582802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46460-4DEA-2B89-14D2-E4E2E92F2265}"/>
              </a:ext>
            </a:extLst>
          </p:cNvPr>
          <p:cNvSpPr>
            <a:spLocks noGrp="1"/>
          </p:cNvSpPr>
          <p:nvPr>
            <p:ph type="title"/>
          </p:nvPr>
        </p:nvSpPr>
        <p:spPr>
          <a:xfrm>
            <a:off x="235393" y="954356"/>
            <a:ext cx="11228799" cy="936427"/>
          </a:xfrm>
        </p:spPr>
        <p:txBody>
          <a:bodyPr>
            <a:noAutofit/>
          </a:bodyPr>
          <a:lstStyle/>
          <a:p>
            <a:r>
              <a:rPr lang="en-IN" sz="1500" dirty="0">
                <a:solidFill>
                  <a:schemeClr val="tx1"/>
                </a:solidFill>
              </a:rPr>
              <a:t>Go to My Team &gt; Performance Overview</a:t>
            </a:r>
            <a:br>
              <a:rPr lang="en-IN" sz="1500" dirty="0">
                <a:solidFill>
                  <a:schemeClr val="tx1"/>
                </a:solidFill>
              </a:rPr>
            </a:br>
            <a:r>
              <a:rPr lang="en-IN" sz="1500" dirty="0">
                <a:solidFill>
                  <a:schemeClr val="tx1"/>
                </a:solidFill>
              </a:rPr>
              <a:t>select the review period</a:t>
            </a:r>
            <a:br>
              <a:rPr lang="en-IN" sz="1500" dirty="0">
                <a:solidFill>
                  <a:schemeClr val="tx1"/>
                </a:solidFill>
              </a:rPr>
            </a:br>
            <a:r>
              <a:rPr lang="en-IN" sz="1500" dirty="0">
                <a:solidFill>
                  <a:schemeClr val="tx1"/>
                </a:solidFill>
              </a:rPr>
              <a:t>Click on the link highlighted in the below image right next to the employee for whom you want to list the indirect reports</a:t>
            </a:r>
            <a:br>
              <a:rPr lang="en-IN" sz="1500" dirty="0">
                <a:solidFill>
                  <a:schemeClr val="tx1"/>
                </a:solidFill>
              </a:rPr>
            </a:br>
            <a:r>
              <a:rPr lang="en-IN" sz="1500" dirty="0">
                <a:solidFill>
                  <a:schemeClr val="tx1"/>
                </a:solidFill>
              </a:rPr>
              <a:t>Click on the employee name for whom you want to approve the document.</a:t>
            </a:r>
            <a:br>
              <a:rPr lang="en-IN" sz="1500" dirty="0">
                <a:solidFill>
                  <a:schemeClr val="tx1"/>
                </a:solidFill>
              </a:rPr>
            </a:br>
            <a:endParaRPr lang="en-IN" sz="1500" dirty="0">
              <a:solidFill>
                <a:schemeClr val="tx1"/>
              </a:solidFill>
            </a:endParaRPr>
          </a:p>
        </p:txBody>
      </p:sp>
      <p:pic>
        <p:nvPicPr>
          <p:cNvPr id="8" name="Picture 7">
            <a:extLst>
              <a:ext uri="{FF2B5EF4-FFF2-40B4-BE49-F238E27FC236}">
                <a16:creationId xmlns:a16="http://schemas.microsoft.com/office/drawing/2014/main" id="{CDC135DE-F6B5-8B16-C729-7E86A4BE2329}"/>
              </a:ext>
            </a:extLst>
          </p:cNvPr>
          <p:cNvPicPr>
            <a:picLocks noChangeAspect="1"/>
          </p:cNvPicPr>
          <p:nvPr/>
        </p:nvPicPr>
        <p:blipFill>
          <a:blip r:embed="rId2"/>
          <a:stretch>
            <a:fillRect/>
          </a:stretch>
        </p:blipFill>
        <p:spPr>
          <a:xfrm>
            <a:off x="235393" y="2194500"/>
            <a:ext cx="9273931" cy="2766406"/>
          </a:xfrm>
          <a:prstGeom prst="rect">
            <a:avLst/>
          </a:prstGeom>
        </p:spPr>
      </p:pic>
      <p:pic>
        <p:nvPicPr>
          <p:cNvPr id="10" name="Picture 9">
            <a:extLst>
              <a:ext uri="{FF2B5EF4-FFF2-40B4-BE49-F238E27FC236}">
                <a16:creationId xmlns:a16="http://schemas.microsoft.com/office/drawing/2014/main" id="{63FFCAFA-F2EE-5E6A-DAB3-E447CD871E10}"/>
              </a:ext>
            </a:extLst>
          </p:cNvPr>
          <p:cNvPicPr>
            <a:picLocks noChangeAspect="1"/>
          </p:cNvPicPr>
          <p:nvPr/>
        </p:nvPicPr>
        <p:blipFill>
          <a:blip r:embed="rId3"/>
          <a:stretch>
            <a:fillRect/>
          </a:stretch>
        </p:blipFill>
        <p:spPr>
          <a:xfrm>
            <a:off x="235393" y="4982831"/>
            <a:ext cx="7379079" cy="958899"/>
          </a:xfrm>
          <a:prstGeom prst="rect">
            <a:avLst/>
          </a:prstGeom>
        </p:spPr>
      </p:pic>
      <p:sp>
        <p:nvSpPr>
          <p:cNvPr id="11" name="TextBox 10">
            <a:extLst>
              <a:ext uri="{FF2B5EF4-FFF2-40B4-BE49-F238E27FC236}">
                <a16:creationId xmlns:a16="http://schemas.microsoft.com/office/drawing/2014/main" id="{234A2784-AACC-AB9D-D6BF-EA406BF99100}"/>
              </a:ext>
            </a:extLst>
          </p:cNvPr>
          <p:cNvSpPr txBox="1"/>
          <p:nvPr/>
        </p:nvSpPr>
        <p:spPr>
          <a:xfrm>
            <a:off x="1062010" y="3927366"/>
            <a:ext cx="1785258" cy="261610"/>
          </a:xfrm>
          <a:prstGeom prst="rect">
            <a:avLst/>
          </a:prstGeom>
          <a:solidFill>
            <a:schemeClr val="bg1"/>
          </a:solidFill>
        </p:spPr>
        <p:txBody>
          <a:bodyPr wrap="square" rtlCol="0">
            <a:spAutoFit/>
          </a:bodyPr>
          <a:lstStyle/>
          <a:p>
            <a:r>
              <a:rPr lang="en-IN" sz="1100" dirty="0"/>
              <a:t>Line manager name</a:t>
            </a:r>
          </a:p>
        </p:txBody>
      </p:sp>
      <p:sp>
        <p:nvSpPr>
          <p:cNvPr id="12" name="TextBox 11">
            <a:extLst>
              <a:ext uri="{FF2B5EF4-FFF2-40B4-BE49-F238E27FC236}">
                <a16:creationId xmlns:a16="http://schemas.microsoft.com/office/drawing/2014/main" id="{DC2A28F4-FA7C-ACD7-A29B-F643B1A8002A}"/>
              </a:ext>
            </a:extLst>
          </p:cNvPr>
          <p:cNvSpPr txBox="1"/>
          <p:nvPr/>
        </p:nvSpPr>
        <p:spPr>
          <a:xfrm>
            <a:off x="860843" y="5085261"/>
            <a:ext cx="1416014" cy="261610"/>
          </a:xfrm>
          <a:prstGeom prst="rect">
            <a:avLst/>
          </a:prstGeom>
          <a:solidFill>
            <a:schemeClr val="bg1"/>
          </a:solidFill>
        </p:spPr>
        <p:txBody>
          <a:bodyPr wrap="square" rtlCol="0">
            <a:spAutoFit/>
          </a:bodyPr>
          <a:lstStyle/>
          <a:p>
            <a:r>
              <a:rPr lang="en-IN" sz="1100" dirty="0"/>
              <a:t>Employee Name</a:t>
            </a:r>
          </a:p>
        </p:txBody>
      </p:sp>
      <p:sp>
        <p:nvSpPr>
          <p:cNvPr id="3" name="Rectangle 2">
            <a:extLst>
              <a:ext uri="{FF2B5EF4-FFF2-40B4-BE49-F238E27FC236}">
                <a16:creationId xmlns:a16="http://schemas.microsoft.com/office/drawing/2014/main" id="{5212762A-5A5F-1AE4-DEEE-AD2AE454E8C6}"/>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E109933-95D8-6AF5-D4FA-4B307BC9D824}"/>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Reviewer Related Tasks</a:t>
            </a:r>
            <a:endParaRPr lang="en-IN" b="1" dirty="0">
              <a:solidFill>
                <a:schemeClr val="bg1"/>
              </a:solidFill>
            </a:endParaRPr>
          </a:p>
        </p:txBody>
      </p:sp>
      <p:sp>
        <p:nvSpPr>
          <p:cNvPr id="5" name="TextBox 4">
            <a:extLst>
              <a:ext uri="{FF2B5EF4-FFF2-40B4-BE49-F238E27FC236}">
                <a16:creationId xmlns:a16="http://schemas.microsoft.com/office/drawing/2014/main" id="{F19FEAD8-0E3F-38E3-8B54-8CF9CA4D4B8B}"/>
              </a:ext>
            </a:extLst>
          </p:cNvPr>
          <p:cNvSpPr txBox="1"/>
          <p:nvPr/>
        </p:nvSpPr>
        <p:spPr>
          <a:xfrm>
            <a:off x="1384228" y="2363802"/>
            <a:ext cx="1785258" cy="95934"/>
          </a:xfrm>
          <a:prstGeom prst="rect">
            <a:avLst/>
          </a:prstGeom>
          <a:solidFill>
            <a:schemeClr val="bg1"/>
          </a:solidFill>
        </p:spPr>
        <p:txBody>
          <a:bodyPr wrap="square" rtlCol="0">
            <a:spAutoFit/>
          </a:bodyPr>
          <a:lstStyle/>
          <a:p>
            <a:endParaRPr lang="en-IN" sz="1100" dirty="0"/>
          </a:p>
        </p:txBody>
      </p:sp>
    </p:spTree>
    <p:extLst>
      <p:ext uri="{BB962C8B-B14F-4D97-AF65-F5344CB8AC3E}">
        <p14:creationId xmlns:p14="http://schemas.microsoft.com/office/powerpoint/2010/main" val="1696191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6ED79-9138-E5E5-5E81-EF6F3B903C0C}"/>
              </a:ext>
            </a:extLst>
          </p:cNvPr>
          <p:cNvSpPr>
            <a:spLocks noGrp="1"/>
          </p:cNvSpPr>
          <p:nvPr>
            <p:ph type="title"/>
          </p:nvPr>
        </p:nvSpPr>
        <p:spPr>
          <a:xfrm>
            <a:off x="272143" y="661128"/>
            <a:ext cx="11228799" cy="1143200"/>
          </a:xfrm>
        </p:spPr>
        <p:txBody>
          <a:bodyPr>
            <a:normAutofit/>
          </a:bodyPr>
          <a:lstStyle/>
          <a:p>
            <a:r>
              <a:rPr lang="en-IN" sz="1500" dirty="0">
                <a:solidFill>
                  <a:schemeClr val="tx1"/>
                </a:solidFill>
              </a:rPr>
              <a:t>Navigate to the performance document for which your approval is pending and click ‘See details’</a:t>
            </a:r>
            <a:br>
              <a:rPr lang="en-IN" sz="1500" dirty="0">
                <a:solidFill>
                  <a:schemeClr val="tx1"/>
                </a:solidFill>
              </a:rPr>
            </a:br>
            <a:r>
              <a:rPr lang="en-IN" sz="1500" dirty="0">
                <a:solidFill>
                  <a:schemeClr val="tx1"/>
                </a:solidFill>
              </a:rPr>
              <a:t>Then click on ‘Approve’ and then ‘Submit’</a:t>
            </a:r>
          </a:p>
        </p:txBody>
      </p:sp>
      <p:pic>
        <p:nvPicPr>
          <p:cNvPr id="10" name="Picture 9">
            <a:extLst>
              <a:ext uri="{FF2B5EF4-FFF2-40B4-BE49-F238E27FC236}">
                <a16:creationId xmlns:a16="http://schemas.microsoft.com/office/drawing/2014/main" id="{FDB81843-EECC-F6B8-E2C5-86E57F15B1C4}"/>
              </a:ext>
            </a:extLst>
          </p:cNvPr>
          <p:cNvPicPr>
            <a:picLocks noChangeAspect="1"/>
          </p:cNvPicPr>
          <p:nvPr/>
        </p:nvPicPr>
        <p:blipFill>
          <a:blip r:embed="rId2"/>
          <a:stretch>
            <a:fillRect/>
          </a:stretch>
        </p:blipFill>
        <p:spPr>
          <a:xfrm>
            <a:off x="8057192" y="2260019"/>
            <a:ext cx="3238560" cy="1624732"/>
          </a:xfrm>
          <a:prstGeom prst="rect">
            <a:avLst/>
          </a:prstGeom>
        </p:spPr>
      </p:pic>
      <p:pic>
        <p:nvPicPr>
          <p:cNvPr id="3" name="Picture 2">
            <a:extLst>
              <a:ext uri="{FF2B5EF4-FFF2-40B4-BE49-F238E27FC236}">
                <a16:creationId xmlns:a16="http://schemas.microsoft.com/office/drawing/2014/main" id="{A7DBA812-1A2E-2E95-DBC8-0A52674DB2BE}"/>
              </a:ext>
            </a:extLst>
          </p:cNvPr>
          <p:cNvPicPr>
            <a:picLocks noChangeAspect="1"/>
          </p:cNvPicPr>
          <p:nvPr/>
        </p:nvPicPr>
        <p:blipFill>
          <a:blip r:embed="rId3"/>
          <a:stretch>
            <a:fillRect/>
          </a:stretch>
        </p:blipFill>
        <p:spPr>
          <a:xfrm>
            <a:off x="180703" y="2260019"/>
            <a:ext cx="3954105" cy="2659703"/>
          </a:xfrm>
          <a:prstGeom prst="rect">
            <a:avLst/>
          </a:prstGeom>
        </p:spPr>
      </p:pic>
      <p:pic>
        <p:nvPicPr>
          <p:cNvPr id="5" name="Picture 4">
            <a:extLst>
              <a:ext uri="{FF2B5EF4-FFF2-40B4-BE49-F238E27FC236}">
                <a16:creationId xmlns:a16="http://schemas.microsoft.com/office/drawing/2014/main" id="{019C5CE3-95AC-17A4-C6E7-1CE81AEA5BFD}"/>
              </a:ext>
            </a:extLst>
          </p:cNvPr>
          <p:cNvPicPr>
            <a:picLocks noChangeAspect="1"/>
          </p:cNvPicPr>
          <p:nvPr/>
        </p:nvPicPr>
        <p:blipFill>
          <a:blip r:embed="rId4"/>
          <a:stretch>
            <a:fillRect/>
          </a:stretch>
        </p:blipFill>
        <p:spPr>
          <a:xfrm>
            <a:off x="4326636" y="2260019"/>
            <a:ext cx="3538728" cy="2492789"/>
          </a:xfrm>
          <a:prstGeom prst="rect">
            <a:avLst/>
          </a:prstGeom>
        </p:spPr>
      </p:pic>
      <p:sp>
        <p:nvSpPr>
          <p:cNvPr id="4" name="Rectangle 3">
            <a:extLst>
              <a:ext uri="{FF2B5EF4-FFF2-40B4-BE49-F238E27FC236}">
                <a16:creationId xmlns:a16="http://schemas.microsoft.com/office/drawing/2014/main" id="{22C560BE-4073-9773-7C7D-6B2D44DC0CBE}"/>
              </a:ext>
            </a:extLst>
          </p:cNvPr>
          <p:cNvSpPr/>
          <p:nvPr/>
        </p:nvSpPr>
        <p:spPr>
          <a:xfrm>
            <a:off x="0" y="0"/>
            <a:ext cx="12192000" cy="603504"/>
          </a:xfrm>
          <a:prstGeom prst="rect">
            <a:avLst/>
          </a:prstGeom>
          <a:solidFill>
            <a:srgbClr val="5A36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76CD083-5B77-E8DE-2454-0F2B69B933EB}"/>
              </a:ext>
            </a:extLst>
          </p:cNvPr>
          <p:cNvSpPr txBox="1"/>
          <p:nvPr/>
        </p:nvSpPr>
        <p:spPr>
          <a:xfrm>
            <a:off x="84328" y="104157"/>
            <a:ext cx="6508496" cy="369332"/>
          </a:xfrm>
          <a:prstGeom prst="rect">
            <a:avLst/>
          </a:prstGeom>
          <a:noFill/>
        </p:spPr>
        <p:txBody>
          <a:bodyPr wrap="square" rtlCol="0">
            <a:spAutoFit/>
          </a:bodyPr>
          <a:lstStyle/>
          <a:p>
            <a:r>
              <a:rPr lang="en-GB" b="1" dirty="0">
                <a:solidFill>
                  <a:schemeClr val="bg1"/>
                </a:solidFill>
              </a:rPr>
              <a:t>Reviewer Related Tasks</a:t>
            </a:r>
            <a:endParaRPr lang="en-IN" b="1" dirty="0">
              <a:solidFill>
                <a:schemeClr val="bg1"/>
              </a:solidFill>
            </a:endParaRPr>
          </a:p>
        </p:txBody>
      </p:sp>
    </p:spTree>
    <p:extLst>
      <p:ext uri="{BB962C8B-B14F-4D97-AF65-F5344CB8AC3E}">
        <p14:creationId xmlns:p14="http://schemas.microsoft.com/office/powerpoint/2010/main" val="119948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2327</TotalTime>
  <Words>1238</Words>
  <Application>Microsoft Office PowerPoint</Application>
  <PresentationFormat>Widescreen</PresentationFormat>
  <Paragraphs>92</Paragraphs>
  <Slides>23</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vt:lpstr>
      <vt:lpstr>Aptos Display</vt:lpstr>
      <vt:lpstr>Arial</vt:lpstr>
      <vt:lpstr>Calibri</vt:lpstr>
      <vt:lpstr>EYInterstate</vt:lpstr>
      <vt:lpstr>EYInterstate Light</vt:lpstr>
      <vt:lpstr>Sky Text</vt:lpstr>
      <vt:lpstr>Symbol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Login into the system and go to Me &gt; Career and Performance &gt; Performance</vt:lpstr>
      <vt:lpstr>Click on the second quarter evaluation document.</vt:lpstr>
      <vt:lpstr>If you need to make some changes in the goals before evaluation click on the ‘Update your goals’ card to go to the ‘Goals Center’. After making the goal changes submit them, the new goals will be auto updated in the performance document.</vt:lpstr>
      <vt:lpstr>Scroll down to the Goals section and provide rating and comments and click ‘Save and Next’ Repeat the same step for each of the goals. In the Summary section of goals click ‘Calculate’ to give calculated rating, the provide comment and click ‘Save and Close’.</vt:lpstr>
      <vt:lpstr>Scroll down to the ‘Overall Summary’ section. Provide the final rating and comments and click ‘Save and Close’ After providing all the ratings and comments click on ‘Submit’</vt:lpstr>
      <vt:lpstr>PowerPoint Presentation</vt:lpstr>
      <vt:lpstr>PowerPoint Presentation</vt:lpstr>
      <vt:lpstr>Once the employee submits the document notification will trigger to the line manager.</vt:lpstr>
      <vt:lpstr>Manager will click on the link in the notification to go to the document or through below path My team &gt; Performance &gt; Click on the Q2 / H1 (Mid Year) Document name to open it</vt:lpstr>
      <vt:lpstr>Go the goal section and give rating and comment for goal item and click ‘Save and Next’ Repeat the same process for each goal item. In the goals summary section click on ‘Calculate’ to find calculated rating then give comments and click ‘Save and Close’.</vt:lpstr>
      <vt:lpstr>1.Scroll down to the ‘Overall Summary’ section and give overall rating and comment  2.After filling all the ratings and comments click on ‘Submit’ 3.Again click on ‘Submit’ to submit the document for approval.</vt:lpstr>
      <vt:lpstr>PowerPoint Presentation</vt:lpstr>
      <vt:lpstr>Approval by Reviewer There are three ways to approve 1. Approving directly from the notification as shown below 2. By accessing the performance document from the notification (shown in the subsequent slides) and then approving the same 3. By accessing the performance document from My Team &gt; Performance Overview and approving it</vt:lpstr>
      <vt:lpstr>Approval by Reviewer There are three ways to approve :  1. Approving directly from the notification as shown below 2. By accessing the performance document from the notification (shown in the subsequent slides) and then approving the same 3. By accessing the performance document from My Team &gt; Performance Overview and approving it through :  My Team &gt; Performance Overview Steps to approve: Select the review period Locate the employee Click on their name to open the document Click ‘See details’ Then ‘Approve’ and finally ‘Submit’  </vt:lpstr>
      <vt:lpstr>Accessing the performance document from the notification</vt:lpstr>
      <vt:lpstr>Go to My Team &gt; Performance Overview select the review period Click on the link highlighted in the below image right next to the employee for whom you want to list the indirect reports Click on the employee name for whom you want to approve the document. </vt:lpstr>
      <vt:lpstr>Navigate to the performance document for which your approval is pending and click ‘See details’ Then click on ‘Approve’ and then ‘Submit’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Debashish Mohapatra</dc:creator>
  <cp:lastModifiedBy>Shayanta Chaudhuri/HR/MUM CORP/MH</cp:lastModifiedBy>
  <cp:revision>102</cp:revision>
  <dcterms:created xsi:type="dcterms:W3CDTF">2024-11-21T10:51:47Z</dcterms:created>
  <dcterms:modified xsi:type="dcterms:W3CDTF">2025-11-06T11:39:37Z</dcterms:modified>
</cp:coreProperties>
</file>